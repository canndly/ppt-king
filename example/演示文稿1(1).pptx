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5" r:id="rId20"/>
    <p:sldId id="276" r:id="rId21"/>
    <p:sldId id="277" r:id="rId22"/>
    <p:sldId id="283" r:id="rId23"/>
    <p:sldId id="284" r:id="rId24"/>
    <p:sldId id="285" r:id="rId25"/>
    <p:sldId id="286" r:id="rId2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apid_locomotion_repor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charset="0"/>
        <a:buChar char="•"/>
        <a:defRPr lang="zh-CN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charset="0"/>
        <a:buChar char="–"/>
        <a:defRPr lang="zh-CN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charset="0"/>
        <a:buChar char="•"/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charset="0"/>
        <a:buChar char="–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charset="0"/>
        <a:buChar char="»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over-title"/>
          <p:cNvGrpSpPr/>
          <p:nvPr/>
        </p:nvGrpSpPr>
        <p:grpSpPr>
          <a:xfrm>
            <a:off x="666750" y="1619250"/>
            <a:ext cx="5276850" cy="1981200"/>
            <a:chOff x="666750" y="1619250"/>
            <a:chExt cx="5276850" cy="1981200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1619250"/>
              <a:ext cx="1608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论文汇报 · RSS 2022</a:t>
              </a:r>
              <a:endParaRPr lang="zh-CN" sz="12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2019300"/>
              <a:ext cx="5276850" cy="1343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7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用强化学习实现</a:t>
              </a:r>
              <a:br>
                <a:rPr lang="zh-CN" sz="37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7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四足机器人高速全向运动</a:t>
              </a:r>
              <a:endParaRPr lang="zh-CN" sz="37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5800" y="3543300"/>
              <a:ext cx="914400" cy="5715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7" name="cover-subtitle"/>
          <p:cNvGrpSpPr/>
          <p:nvPr/>
        </p:nvGrpSpPr>
        <p:grpSpPr>
          <a:xfrm>
            <a:off x="677799" y="4375150"/>
            <a:ext cx="4851908" cy="632841"/>
            <a:chOff x="677799" y="4375150"/>
            <a:chExt cx="4851908" cy="632841"/>
          </a:xfrm>
        </p:grpSpPr>
        <p:sp>
          <p:nvSpPr>
            <p:cNvPr id="6" name="TextBox 6"/>
            <p:cNvSpPr txBox="1"/>
            <p:nvPr/>
          </p:nvSpPr>
          <p:spPr>
            <a:xfrm>
              <a:off x="677799" y="4375150"/>
              <a:ext cx="4851908" cy="632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5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Rapid Locomotion via Reinforcement Learning</a:t>
              </a:r>
              <a:br>
                <a:rPr lang="en-US" sz="15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MIT Mini Cheetah · 一个策略、自然地形、零样本迁移</a:t>
              </a:r>
              <a:endParaRPr lang="zh-CN" sz="158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cover-metrics"/>
          <p:cNvGrpSpPr/>
          <p:nvPr/>
        </p:nvGrpSpPr>
        <p:grpSpPr>
          <a:xfrm>
            <a:off x="672846" y="5454650"/>
            <a:ext cx="7610529" cy="643509"/>
            <a:chOff x="672846" y="5454650"/>
            <a:chExt cx="7610529" cy="643509"/>
          </a:xfrm>
        </p:grpSpPr>
        <p:sp>
          <p:nvSpPr>
            <p:cNvPr id="8" name="TextBox 8"/>
            <p:cNvSpPr txBox="1"/>
            <p:nvPr/>
          </p:nvSpPr>
          <p:spPr>
            <a:xfrm>
              <a:off x="672846" y="5454650"/>
              <a:ext cx="13955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3.9 m/s</a:t>
              </a:r>
              <a:endParaRPr lang="en-US" sz="25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0466" y="58928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室内最高持续速度</a:t>
              </a:r>
              <a:endPara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97046" y="5454650"/>
              <a:ext cx="17200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5.7 rad/s</a:t>
              </a:r>
              <a:endParaRPr lang="en-US" sz="25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04666" y="58928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最大偏航角速度</a:t>
              </a:r>
              <a:endPara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21246" y="5454650"/>
              <a:ext cx="13621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个策略</a:t>
              </a:r>
              <a:endParaRPr lang="zh-CN" sz="25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28866" y="5892800"/>
              <a:ext cx="1325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室内外 / 平地 / 冰面</a:t>
              </a:r>
              <a:endPara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cover-photo"/>
          <p:cNvGrpSpPr/>
          <p:nvPr/>
        </p:nvGrpSpPr>
        <p:grpSpPr>
          <a:xfrm>
            <a:off x="7620000" y="1428750"/>
            <a:ext cx="4114800" cy="4000500"/>
            <a:chOff x="7620000" y="1428750"/>
            <a:chExt cx="41148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7620000" y="1428750"/>
              <a:ext cx="4114800" cy="4000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772400" y="2185495"/>
              <a:ext cx="3810000" cy="183931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7766304" y="4800600"/>
              <a:ext cx="25383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Mini Cheetah · 自然地形稳定奔跑</a:t>
              </a:r>
              <a:endParaRPr lang="zh-CN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67447" y="5086350"/>
              <a:ext cx="19888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同一个策略覆盖平地、草地与冰面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80847" y="6457950"/>
            <a:ext cx="82785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2026 年 10 月</a:t>
            </a:r>
            <a:endParaRPr lang="zh-CN" sz="98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1399032" cy="755650"/>
            <a:chOff x="444246" y="349250"/>
            <a:chExt cx="1399032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732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CONTENTS</a:t>
              </a:r>
              <a:endParaRPr lang="en-US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报告结构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29" name="page-body"/>
          <p:cNvGrpSpPr/>
          <p:nvPr/>
        </p:nvGrpSpPr>
        <p:grpSpPr>
          <a:xfrm>
            <a:off x="675894" y="1682750"/>
            <a:ext cx="10830306" cy="3939159"/>
            <a:chOff x="675894" y="1682750"/>
            <a:chExt cx="10830306" cy="3939159"/>
          </a:xfrm>
        </p:grpSpPr>
        <p:sp>
          <p:nvSpPr>
            <p:cNvPr id="6" name="TextBox 6"/>
            <p:cNvSpPr txBox="1"/>
            <p:nvPr/>
          </p:nvSpPr>
          <p:spPr>
            <a:xfrm>
              <a:off x="675894" y="168275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9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06068" y="16827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研究背景与核心问题</a:t>
              </a:r>
              <a:endParaRPr lang="zh-CN" sz="16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09116" y="198755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野外高速运动的三层背景，以及唯一核心问题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685800" y="2228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5894" y="236855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9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06068" y="23685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难点与创新</a:t>
              </a:r>
              <a:endParaRPr lang="zh-CN" sz="16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09116" y="2673350"/>
              <a:ext cx="2588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D1–D7 可指认的难点，与 I1–I4 机制创新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685800" y="2914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5894" y="305435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9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06068" y="30543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方法框架</a:t>
              </a:r>
              <a:endParaRPr lang="zh-CN" sz="16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09116" y="3359150"/>
              <a:ext cx="2774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系统总览、网络结构、教师-学生与课程框架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3600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5894" y="374015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9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06068" y="3740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关键公式与作用</a:t>
              </a:r>
              <a:endParaRPr lang="zh-CN" sz="16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09116" y="4044950"/>
              <a:ext cx="4131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方法映射 + 六处板书：动作、门牌号、猜测、课程、可行域、评测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685800" y="42862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5894" y="442595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9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06068" y="44259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复现</a:t>
              </a:r>
              <a:endParaRPr lang="zh-CN" sz="16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09116" y="4730750"/>
              <a:ext cx="39566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论文原图 + 简化 MuJoCo 复现：课程、系统辨识、速度-鲁棒性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85800" y="4972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5894" y="511175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9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06068" y="51117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结论与局限</a:t>
              </a:r>
              <a:endParaRPr lang="zh-CN" sz="16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09116" y="5416550"/>
              <a:ext cx="2427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问题—方法—证据闭环、局限与未来方向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30" name="Line 30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section-title"/>
          <p:cNvGrpSpPr/>
          <p:nvPr/>
        </p:nvGrpSpPr>
        <p:grpSpPr>
          <a:xfrm>
            <a:off x="742950" y="1454150"/>
            <a:ext cx="4399026" cy="1879600"/>
            <a:chOff x="742950" y="1454150"/>
            <a:chExt cx="4399026" cy="1879600"/>
          </a:xfrm>
        </p:grpSpPr>
        <p:sp>
          <p:nvSpPr>
            <p:cNvPr id="2" name="TextBox 2"/>
            <p:cNvSpPr txBox="1"/>
            <p:nvPr/>
          </p:nvSpPr>
          <p:spPr>
            <a:xfrm>
              <a:off x="742950" y="1454150"/>
              <a:ext cx="924371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57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3712" y="254635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研究背景与核心问题</a:t>
              </a:r>
              <a:endParaRPr lang="zh-CN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3276600"/>
              <a:ext cx="1143000" cy="5715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7" name="section-intro"/>
          <p:cNvGrpSpPr/>
          <p:nvPr/>
        </p:nvGrpSpPr>
        <p:grpSpPr>
          <a:xfrm>
            <a:off x="754380" y="4286250"/>
            <a:ext cx="4587240" cy="598170"/>
            <a:chOff x="754380" y="4286250"/>
            <a:chExt cx="4587240" cy="598170"/>
          </a:xfrm>
        </p:grpSpPr>
        <p:sp>
          <p:nvSpPr>
            <p:cNvPr id="6" name="TextBox 6"/>
            <p:cNvSpPr txBox="1"/>
            <p:nvPr/>
          </p:nvSpPr>
          <p:spPr>
            <a:xfrm>
              <a:off x="754380" y="4286250"/>
              <a:ext cx="4587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从野外高速运动的三层背景出发，提出唯一核心问题，</a:t>
              </a:r>
              <a:b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并拆出 P1–P4 的因果链。</a:t>
              </a:r>
              <a:endParaRPr lang="zh-CN" sz="150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section-points"/>
          <p:cNvGrpSpPr/>
          <p:nvPr/>
        </p:nvGrpSpPr>
        <p:grpSpPr>
          <a:xfrm>
            <a:off x="762000" y="5429250"/>
            <a:ext cx="10467975" cy="571500"/>
            <a:chOff x="762000" y="5429250"/>
            <a:chExt cx="10467975" cy="571500"/>
          </a:xfrm>
        </p:grpSpPr>
        <p:sp>
          <p:nvSpPr>
            <p:cNvPr id="8" name="Rectangle 8"/>
            <p:cNvSpPr/>
            <p:nvPr/>
          </p:nvSpPr>
          <p:spPr>
            <a:xfrm>
              <a:off x="762000" y="5429250"/>
              <a:ext cx="3362325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5454" y="5619750"/>
              <a:ext cx="1694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应用 / 物理 / 方法背景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14825" y="5429250"/>
              <a:ext cx="3362325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314825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18279" y="56197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唯一核心问题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67650" y="5429250"/>
              <a:ext cx="3362325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67650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71104" y="5619750"/>
              <a:ext cx="10434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P1–P4 因果链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18" name="Line 18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3458718" cy="755650"/>
            <a:chOff x="444246" y="349250"/>
            <a:chExt cx="3458718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01 · 研究背景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野外高速运动为什么难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45" name="page-body"/>
          <p:cNvGrpSpPr/>
          <p:nvPr/>
        </p:nvGrpSpPr>
        <p:grpSpPr>
          <a:xfrm>
            <a:off x="457200" y="1619250"/>
            <a:ext cx="11277600" cy="4381500"/>
            <a:chOff x="457200" y="1619250"/>
            <a:chExt cx="11277600" cy="4381500"/>
          </a:xfrm>
        </p:grpSpPr>
        <p:sp>
          <p:nvSpPr>
            <p:cNvPr id="6" name="Rectangle 6"/>
            <p:cNvSpPr/>
            <p:nvPr/>
          </p:nvSpPr>
          <p:spPr>
            <a:xfrm>
              <a:off x="457200" y="1619250"/>
              <a:ext cx="2590800" cy="2057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28650" y="17907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0712" y="1864614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6656" y="23177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摩擦</a:t>
              </a:r>
              <a:endParaRPr lang="zh-CN" sz="18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0085" y="26606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冰面、湿草、碎石</a:t>
              </a:r>
              <a:endParaRPr lang="zh-CN" sz="112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085" y="2965450"/>
              <a:ext cx="186055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附着系数差异巨大；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高速时可用摩擦力逼近上限。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52800" y="1619250"/>
              <a:ext cx="2590800" cy="2057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524250" y="17907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596312" y="1864614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72256" y="23177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软硬</a:t>
              </a:r>
              <a:endParaRPr lang="zh-CN" sz="18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75685" y="26606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松软地面会下陷</a:t>
              </a:r>
              <a:endParaRPr lang="zh-CN" sz="112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75685" y="2965450"/>
              <a:ext cx="214503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接触模型与能量损耗随速度变化，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难以提前建模。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48400" y="1619250"/>
              <a:ext cx="2590800" cy="2057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19850" y="17907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91912" y="1864614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7856" y="23177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坡度</a:t>
              </a:r>
              <a:endParaRPr lang="zh-CN" sz="18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1285" y="26606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上下坡改变重力分量</a:t>
              </a:r>
              <a:endParaRPr lang="zh-CN" sz="112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1285" y="2965450"/>
              <a:ext cx="171831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腾空与着地时机更难预测，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姿态控制更脆弱。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144000" y="1619250"/>
              <a:ext cx="2590800" cy="2057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315450" y="1790700"/>
              <a:ext cx="342900" cy="342900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87512" y="1864614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63456" y="23177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凹凸</a:t>
              </a:r>
              <a:endParaRPr lang="zh-CN" sz="18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66885" y="26606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碎石与草根造成高频扰动</a:t>
              </a:r>
              <a:endParaRPr lang="zh-CN" sz="112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66885" y="2965450"/>
              <a:ext cx="143383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对本体感知与快速反应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提出更高要求。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57200" y="3848100"/>
              <a:ext cx="2590800" cy="10668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1"/>
            <a:srcRect t="18163" b="18163"/>
            <a:stretch>
              <a:fillRect/>
            </a:stretch>
          </p:blipFill>
          <p:spPr>
            <a:xfrm>
              <a:off x="533400" y="3924300"/>
              <a:ext cx="2438400" cy="81915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585597" y="4762500"/>
              <a:ext cx="12233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平地冲刺 · 3.9 m/s</a:t>
              </a:r>
              <a:endParaRPr lang="zh-CN" sz="98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52800" y="3848100"/>
              <a:ext cx="2590800" cy="10668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rcRect t="13648" b="13649"/>
            <a:stretch>
              <a:fillRect/>
            </a:stretch>
          </p:blipFill>
          <p:spPr>
            <a:xfrm>
              <a:off x="3429000" y="3924300"/>
              <a:ext cx="2438400" cy="81915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3481197" y="4762500"/>
              <a:ext cx="12233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草地冲刺 · 3.4 m/s</a:t>
              </a:r>
              <a:endParaRPr lang="zh-CN" sz="98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3848100"/>
              <a:ext cx="2590800" cy="10668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3"/>
            <a:srcRect t="14183" b="14183"/>
            <a:stretch>
              <a:fillRect/>
            </a:stretch>
          </p:blipFill>
          <p:spPr>
            <a:xfrm>
              <a:off x="6324600" y="3924300"/>
              <a:ext cx="2438400" cy="819150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6376797" y="4762500"/>
              <a:ext cx="13479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高速旋转 · 5.7 rad/s</a:t>
              </a:r>
              <a:endParaRPr lang="zh-CN" sz="98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144000" y="3848100"/>
              <a:ext cx="2590800" cy="10668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4"/>
            <a:srcRect t="15206" b="15207"/>
            <a:stretch>
              <a:fillRect/>
            </a:stretch>
          </p:blipFill>
          <p:spPr>
            <a:xfrm>
              <a:off x="9220200" y="3924300"/>
              <a:ext cx="2438400" cy="819150"/>
            </a:xfrm>
            <a:prstGeom prst="rect">
              <a:avLst/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9272397" y="4762500"/>
              <a:ext cx="9607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冰面旋转 · 定性</a:t>
              </a:r>
              <a:endParaRPr lang="zh-CN" sz="98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57200" y="5219700"/>
              <a:ext cx="11277600" cy="781050"/>
            </a:xfrm>
            <a:prstGeom prst="roundRect">
              <a:avLst>
                <a:gd name="adj" fmla="val 19512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4756" y="53467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C4A6E"/>
                  </a:solidFill>
                  <a:latin typeface="+mn-lt"/>
                  <a:ea typeface="+mn-ea"/>
                  <a:cs typeface="+mn-cs"/>
                </a:rPr>
                <a:t>速度越快，地形差异对控制的影响被放得越大。</a:t>
              </a:r>
              <a:endParaRPr lang="zh-CN" sz="1800" b="1" dirty="0">
                <a:solidFill>
                  <a:srgbClr val="0C4A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8185" y="5689600"/>
              <a:ext cx="3946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369A1"/>
                  </a:solidFill>
                  <a:latin typeface="+mn-lt"/>
                  <a:ea typeface="+mn-ea"/>
                  <a:cs typeface="+mn-cs"/>
                </a:rPr>
                <a:t>不是把平地跑快，而是把“跑快”这件事放到不确定地形上。</a:t>
              </a:r>
              <a:endParaRPr lang="zh-CN" sz="1120" dirty="0">
                <a:solidFill>
                  <a:srgbClr val="0369A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46" name="Line 4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5518404" cy="755650"/>
            <a:chOff x="444246" y="349250"/>
            <a:chExt cx="5518404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01 · 研究背景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三条技术路线：为什么选择强化学习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32" name="page-body"/>
          <p:cNvGrpSpPr/>
          <p:nvPr/>
        </p:nvGrpSpPr>
        <p:grpSpPr>
          <a:xfrm>
            <a:off x="457200" y="1676400"/>
            <a:ext cx="11277600" cy="4095750"/>
            <a:chOff x="457200" y="1676400"/>
            <a:chExt cx="11277600" cy="4095750"/>
          </a:xfrm>
        </p:grpSpPr>
        <p:sp>
          <p:nvSpPr>
            <p:cNvPr id="6" name="Rectangle 6"/>
            <p:cNvSpPr/>
            <p:nvPr/>
          </p:nvSpPr>
          <p:spPr>
            <a:xfrm>
              <a:off x="457200" y="1676400"/>
              <a:ext cx="3657600" cy="314325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09600" y="18669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1662" y="1940814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6656" y="24320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基于模型控制</a:t>
              </a:r>
              <a:endParaRPr lang="zh-CN" sz="18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0466" y="28829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做法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704" y="312420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人工设计降阶模型 + 实时优化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0466" y="3778250"/>
              <a:ext cx="31051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局限 </a:t>
              </a:r>
              <a:endParaRPr lang="en-US" alt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9704" y="3994150"/>
              <a:ext cx="18638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行为上限 = 设计师创造力；</a:t>
              </a:r>
              <a:b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复杂地形没有好模型。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267200" y="1676400"/>
              <a:ext cx="3657600" cy="314325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419600" y="18669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91662" y="1940814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6656" y="243205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完整模型轨迹优化</a:t>
              </a:r>
              <a:endParaRPr lang="zh-CN" sz="18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90466" y="28829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做法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9704" y="312420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不做降阶，直接用完整物理模型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90466" y="3778250"/>
              <a:ext cx="31051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局限 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9704" y="3994150"/>
              <a:ext cx="19933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无法实时，尤其自然地形上的</a:t>
              </a:r>
              <a:b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高速运动。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77200" y="1676400"/>
              <a:ext cx="3657600" cy="3143250"/>
            </a:xfrm>
            <a:prstGeom prst="roundRect">
              <a:avLst>
                <a:gd name="adj" fmla="val 5455"/>
              </a:avLst>
            </a:prstGeom>
            <a:solidFill>
              <a:srgbClr val="0F172A"/>
            </a:solidFill>
            <a:ln w="9525">
              <a:solidFill>
                <a:srgbClr val="0F172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229600" y="1866900"/>
              <a:ext cx="342900" cy="34290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01662" y="1940814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6656" y="24320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强化学习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00466" y="28829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做法</a:t>
              </a:r>
              <a:endParaRPr lang="zh-CN" sz="10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9704" y="3098800"/>
              <a:ext cx="15361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用采样摊销优化代价，</a:t>
              </a:r>
              <a:br>
                <a:rPr lang="zh-CN" sz="12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直接学观测 → 动作</a:t>
              </a:r>
              <a:endParaRPr lang="zh-CN" sz="120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00466" y="3778250"/>
              <a:ext cx="266700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优势</a:t>
              </a:r>
              <a:endParaRPr lang="zh-CN" sz="10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9704" y="3994150"/>
              <a:ext cx="19933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不要求人先写出精确、高效的</a:t>
              </a:r>
              <a:br>
                <a:rPr lang="zh-CN" sz="12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低阶模型，可扩展。</a:t>
              </a:r>
              <a:endParaRPr lang="zh-CN" sz="120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57200" y="5143500"/>
              <a:ext cx="11277600" cy="628650"/>
            </a:xfrm>
            <a:prstGeom prst="roundRect">
              <a:avLst>
                <a:gd name="adj" fmla="val 21212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5518" y="5340350"/>
              <a:ext cx="5081270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alt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强化</a:t>
              </a:r>
              <a:r>
                <a:rPr lang="en-US" altLang="zh-C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学习</a:t>
              </a:r>
              <a:r>
                <a:rPr lang="zh-C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的价值：把“优化”摊销成可扩展的策略学习。</a:t>
              </a:r>
              <a:endParaRPr lang="zh-CN" sz="16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33" name="Line 33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3238500" cy="755650"/>
            <a:chOff x="444246" y="349250"/>
            <a:chExt cx="3238500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01 · 核心问题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3238500" cy="388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核心问题与它的因果链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25" name="page-body"/>
          <p:cNvGrpSpPr/>
          <p:nvPr/>
        </p:nvGrpSpPr>
        <p:grpSpPr>
          <a:xfrm>
            <a:off x="457200" y="1485900"/>
            <a:ext cx="11277600" cy="4665980"/>
            <a:chOff x="457200" y="1485900"/>
            <a:chExt cx="11277600" cy="4665980"/>
          </a:xfrm>
        </p:grpSpPr>
        <p:sp>
          <p:nvSpPr>
            <p:cNvPr id="6" name="Rectangle 6"/>
            <p:cNvSpPr/>
            <p:nvPr/>
          </p:nvSpPr>
          <p:spPr>
            <a:xfrm>
              <a:off x="457200" y="1485900"/>
              <a:ext cx="11277600" cy="1066800"/>
            </a:xfrm>
            <a:prstGeom prst="roundRect">
              <a:avLst>
                <a:gd name="adj" fmla="val 16071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8566" y="17208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唯一核心问题</a:t>
              </a:r>
              <a:endParaRPr lang="zh-CN" sz="10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5518" y="1974850"/>
              <a:ext cx="714146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如何在自然地形上，用一个统一的端到端策略，实现大范围线速度与角速度的</a:t>
              </a:r>
              <a:b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高速全向运动，并零样本迁移到真实机器人？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2876550"/>
              <a:ext cx="10820400" cy="55245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680" y="304165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P1</a:t>
              </a:r>
              <a:endParaRPr lang="en-US" sz="15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4173" y="3067050"/>
              <a:ext cx="494112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宽速度范围 ⇒ 任务集宽 ⇒ 均匀采样 ⇒ 大多不可行 ⇒ 没有奖励信号</a:t>
              </a:r>
              <a:endParaRPr lang="zh-CN" sz="128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1333500" y="342900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85800" y="3562350"/>
              <a:ext cx="10820400" cy="55245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8680" y="372745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P2</a:t>
              </a:r>
              <a:endParaRPr lang="en-US" sz="15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84173" y="3752850"/>
              <a:ext cx="2883535" cy="1949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课程必须自动扩展，并</a:t>
              </a:r>
              <a:r>
                <a:rPr lang="en-US" altLang="zh-CN" sz="12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联合安排</a:t>
              </a:r>
              <a:r>
                <a:rPr lang="zh-CN" sz="12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 v 与 ω </a:t>
              </a:r>
              <a:endParaRPr lang="zh-CN" sz="128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1333500" y="411480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4248150"/>
              <a:ext cx="10820400" cy="55245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680" y="441325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P3</a:t>
              </a:r>
              <a:endParaRPr lang="en-US" sz="15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4173" y="4438650"/>
              <a:ext cx="526851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高速 ⇒ sim-to-real 差距放大 ⇒ 真机参数不可测 ⇒ 需要隐式在线辨识</a:t>
              </a:r>
              <a:endParaRPr lang="zh-CN" sz="128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1333500" y="480060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" y="4933950"/>
              <a:ext cx="10820400" cy="55245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8680" y="509905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P4</a:t>
              </a:r>
              <a:endParaRPr lang="en-US" sz="15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84173" y="5124450"/>
              <a:ext cx="3251200" cy="1949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部署约束：</a:t>
              </a:r>
              <a:r>
                <a:rPr lang="en-US" altLang="zh-CN" sz="12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历史估计</a:t>
              </a:r>
              <a:r>
                <a:rPr altLang="en-US" sz="12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和</a:t>
              </a:r>
              <a:r>
                <a:rPr lang="en-US" altLang="zh-CN" sz="12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动作推理需要实</a:t>
              </a:r>
              <a:r>
                <a:rPr altLang="en-US" sz="12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时</a:t>
              </a:r>
              <a:r>
                <a:rPr lang="en-US" altLang="zh-CN" sz="12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执行</a:t>
              </a:r>
              <a:endParaRPr lang="en-US" altLang="zh-CN" sz="128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8942" y="5740400"/>
              <a:ext cx="56515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3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 </a:t>
              </a:r>
              <a:endParaRPr lang="en-US" altLang="zh-CN" sz="13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en-US" altLang="zh-CN" sz="13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26" name="Line 2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section-title"/>
          <p:cNvGrpSpPr/>
          <p:nvPr/>
        </p:nvGrpSpPr>
        <p:grpSpPr>
          <a:xfrm>
            <a:off x="742950" y="1454150"/>
            <a:ext cx="2460498" cy="1879600"/>
            <a:chOff x="742950" y="1454150"/>
            <a:chExt cx="2460498" cy="1879600"/>
          </a:xfrm>
        </p:grpSpPr>
        <p:sp>
          <p:nvSpPr>
            <p:cNvPr id="2" name="TextBox 2"/>
            <p:cNvSpPr txBox="1"/>
            <p:nvPr/>
          </p:nvSpPr>
          <p:spPr>
            <a:xfrm>
              <a:off x="742950" y="1454150"/>
              <a:ext cx="924371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57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3712" y="254635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难点与创新</a:t>
              </a:r>
              <a:endParaRPr lang="zh-CN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3276600"/>
              <a:ext cx="1143000" cy="5715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17" name="section-points"/>
          <p:cNvGrpSpPr/>
          <p:nvPr/>
        </p:nvGrpSpPr>
        <p:grpSpPr>
          <a:xfrm>
            <a:off x="762000" y="5429250"/>
            <a:ext cx="10467975" cy="571500"/>
            <a:chOff x="762000" y="5429250"/>
            <a:chExt cx="10467975" cy="571500"/>
          </a:xfrm>
        </p:grpSpPr>
        <p:sp>
          <p:nvSpPr>
            <p:cNvPr id="8" name="Rectangle 8"/>
            <p:cNvSpPr/>
            <p:nvPr/>
          </p:nvSpPr>
          <p:spPr>
            <a:xfrm>
              <a:off x="762000" y="5429250"/>
              <a:ext cx="3362325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5454" y="5619750"/>
              <a:ext cx="1204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D1–D4 物理难点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14825" y="5429250"/>
              <a:ext cx="3362325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314825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18279" y="5619750"/>
              <a:ext cx="1204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D5–D7 系统约束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67650" y="5429250"/>
              <a:ext cx="3362325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67650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71104" y="5619750"/>
              <a:ext cx="11153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I1–I4 机制创新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18" name="Line 18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5073650" cy="755650"/>
            <a:chOff x="444246" y="349250"/>
            <a:chExt cx="5073650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627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02 · 难点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5073650" cy="388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难点 D1–D4：机制与物理量</a:t>
              </a:r>
              <a:r>
                <a:rPr altLang="en-US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的</a:t>
              </a:r>
              <a:r>
                <a:rPr lang="en-US" alt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约束</a:t>
              </a:r>
              <a:endParaRPr lang="en-US" alt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35" name="page-body"/>
          <p:cNvGrpSpPr/>
          <p:nvPr/>
        </p:nvGrpSpPr>
        <p:grpSpPr>
          <a:xfrm>
            <a:off x="450342" y="1524000"/>
            <a:ext cx="11284458" cy="4442333"/>
            <a:chOff x="450342" y="1524000"/>
            <a:chExt cx="11284458" cy="4442333"/>
          </a:xfrm>
        </p:grpSpPr>
        <p:sp>
          <p:nvSpPr>
            <p:cNvPr id="6" name="Rectangle 6"/>
            <p:cNvSpPr/>
            <p:nvPr/>
          </p:nvSpPr>
          <p:spPr>
            <a:xfrm>
              <a:off x="457200" y="1524000"/>
              <a:ext cx="5562600" cy="1866900"/>
            </a:xfrm>
            <a:prstGeom prst="roundRect">
              <a:avLst>
                <a:gd name="adj" fmla="val 9184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09600" y="1714500"/>
              <a:ext cx="381000" cy="3810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2384" y="1816735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D1</a:t>
              </a:r>
              <a:endParaRPr lang="en-US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6518" y="177800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奖励稀疏、无学习信号</a:t>
              </a:r>
              <a:endParaRPr lang="zh-CN" sz="16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2324100"/>
              <a:ext cx="3679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初期随机探索几乎不产生高速运动，奖励长期 ≈ 0。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3009900"/>
              <a:ext cx="5105400" cy="247650"/>
            </a:xfrm>
            <a:prstGeom prst="roundRect">
              <a:avLst>
                <a:gd name="adj" fmla="val 30769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4197" y="3076575"/>
              <a:ext cx="774700" cy="149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后果：奖励≈0</a:t>
              </a:r>
              <a:endParaRPr lang="zh-CN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172200" y="1524000"/>
              <a:ext cx="5562600" cy="1866900"/>
            </a:xfrm>
            <a:prstGeom prst="roundRect">
              <a:avLst>
                <a:gd name="adj" fmla="val 9184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6324600" y="1714500"/>
              <a:ext cx="381000" cy="38100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17384" y="1816735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D2</a:t>
              </a:r>
              <a:endParaRPr lang="en-US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11518" y="177800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可行域耦合且不可分解</a:t>
              </a:r>
              <a:endParaRPr lang="zh-CN" sz="16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4704" y="2286000"/>
              <a:ext cx="27401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向心力 m·v·ω 由摩擦 μmg 提供 ⇒</a:t>
              </a:r>
              <a:b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v·ω ≤ μg；独立采样必生成不可行任务。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00800" y="3009900"/>
              <a:ext cx="5105400" cy="247650"/>
            </a:xfrm>
            <a:prstGeom prst="roundRect">
              <a:avLst>
                <a:gd name="adj" fmla="val 30769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29197" y="3076575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后果：大量不可行指令</a:t>
              </a:r>
              <a:endParaRPr lang="zh-CN" sz="98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57200" y="3619500"/>
              <a:ext cx="5562600" cy="1866900"/>
            </a:xfrm>
            <a:prstGeom prst="roundRect">
              <a:avLst>
                <a:gd name="adj" fmla="val 9184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09600" y="3810000"/>
              <a:ext cx="381000" cy="381000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2384" y="3912235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D3</a:t>
              </a:r>
              <a:endParaRPr lang="en-US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6518" y="387350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高速专属物理效应</a:t>
              </a:r>
              <a:endParaRPr lang="zh-CN" sz="16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704" y="4381500"/>
              <a:ext cx="30982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力矩饱和（17 N·m）、大接触力、腾空姿态，</a:t>
              </a:r>
              <a:b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低速策略覆盖不到。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5800" y="5105400"/>
              <a:ext cx="5105400" cy="247650"/>
            </a:xfrm>
            <a:prstGeom prst="roundRect">
              <a:avLst>
                <a:gd name="adj" fmla="val 30769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4197" y="5172075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后果：低速策略失效</a:t>
              </a:r>
              <a:endParaRPr lang="zh-CN" sz="98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72200" y="3619500"/>
              <a:ext cx="5562600" cy="1866900"/>
            </a:xfrm>
            <a:prstGeom prst="roundRect">
              <a:avLst>
                <a:gd name="adj" fmla="val 9184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324600" y="3810000"/>
              <a:ext cx="381000" cy="3810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7384" y="3912235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D4</a:t>
              </a:r>
              <a:endParaRPr lang="en-US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11518" y="387350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特权信息不可测</a:t>
              </a:r>
              <a:endParaRPr lang="zh-CN" sz="16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94704" y="4381500"/>
              <a:ext cx="29077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质量、质心、电机强度、摩擦、恢复系数，</a:t>
              </a:r>
              <a:b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真机无法直接测量。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00800" y="5105400"/>
              <a:ext cx="5105400" cy="247650"/>
            </a:xfrm>
            <a:prstGeom prst="roundRect">
              <a:avLst>
                <a:gd name="adj" fmla="val 30769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197" y="5172075"/>
              <a:ext cx="1369060" cy="149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后果：策略无法直接部署</a:t>
              </a:r>
              <a:endParaRPr lang="zh-CN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0342" y="570230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这些难点共同导致：直接在大范围上训练，既学不到，也迁不过去。</a:t>
              </a:r>
              <a:endParaRPr lang="zh-CN" sz="13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36" name="Line 3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3704714" cy="755650"/>
            <a:chOff x="444246" y="349250"/>
            <a:chExt cx="3704714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051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02 · 难点与创新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37047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难点 D5–D7 与创新总览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41" name="page-body"/>
          <p:cNvGrpSpPr/>
          <p:nvPr/>
        </p:nvGrpSpPr>
        <p:grpSpPr>
          <a:xfrm>
            <a:off x="450342" y="1416050"/>
            <a:ext cx="11284458" cy="4702810"/>
            <a:chOff x="450342" y="1416050"/>
            <a:chExt cx="11284458" cy="4702810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416050"/>
              <a:ext cx="2022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D5–D7：系统层面的约束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1981200"/>
              <a:ext cx="4762500" cy="914400"/>
            </a:xfrm>
            <a:prstGeom prst="roundRect">
              <a:avLst>
                <a:gd name="adj" fmla="val 14583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1604" y="211455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D5</a:t>
              </a:r>
              <a:endParaRPr lang="en-US" sz="12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9561" y="208915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域随机化的保守性</a:t>
              </a:r>
              <a:endParaRPr lang="zh-CN" sz="142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1466" y="2425700"/>
              <a:ext cx="31345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学“一套参数下都凑合”的行为，没有自适应机制。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57200" y="3086100"/>
              <a:ext cx="4762500" cy="914400"/>
            </a:xfrm>
            <a:prstGeom prst="roundRect">
              <a:avLst>
                <a:gd name="adj" fmla="val 14583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1604" y="321945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D6</a:t>
              </a:r>
              <a:endParaRPr lang="en-US" sz="12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9561" y="3194050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实时性约束</a:t>
              </a:r>
              <a:endParaRPr lang="zh-CN" sz="142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1466" y="35306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自适应模块必须与策略主体同频，历史不能长。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57200" y="4191000"/>
              <a:ext cx="4762500" cy="914400"/>
            </a:xfrm>
            <a:prstGeom prst="roundRect">
              <a:avLst>
                <a:gd name="adj" fmla="val 14583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604" y="432435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D7</a:t>
              </a:r>
              <a:endParaRPr lang="en-US" sz="12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9561" y="429895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速度与鲁棒性权衡</a:t>
              </a:r>
              <a:endParaRPr lang="zh-CN" sz="142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1466" y="4635500"/>
              <a:ext cx="28164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训练地形越粗，平地指令面积越小（图 5）。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84342" y="1416050"/>
              <a:ext cx="68580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创新</a:t>
              </a:r>
              <a:r>
                <a:rPr alt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处：</a:t>
              </a:r>
              <a:endParaRPr altLang="en-US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91200" y="1981200"/>
              <a:ext cx="5943600" cy="838200"/>
            </a:xfrm>
            <a:prstGeom prst="roundRect">
              <a:avLst>
                <a:gd name="adj" fmla="val 15909"/>
              </a:avLst>
            </a:prstGeom>
            <a:solidFill>
              <a:srgbClr val="F8FAFC"/>
            </a:solidFill>
            <a:ln w="9525">
              <a:solidFill>
                <a:srgbClr val="DCE5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75604" y="2095500"/>
              <a:ext cx="164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I1</a:t>
              </a:r>
              <a:endParaRPr lang="en-US" sz="12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93942" y="2082800"/>
              <a:ext cx="1667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Grid Adaptive 课程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76366" y="2406650"/>
              <a:ext cx="838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服务 P1 + P2</a:t>
              </a:r>
              <a:endParaRPr lang="zh-CN" sz="1050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86166" y="24066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指令面积最大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91200" y="2971800"/>
              <a:ext cx="5943600" cy="838200"/>
            </a:xfrm>
            <a:prstGeom prst="roundRect">
              <a:avLst>
                <a:gd name="adj" fmla="val 15909"/>
              </a:avLst>
            </a:prstGeom>
            <a:solidFill>
              <a:srgbClr val="F8FAFC"/>
            </a:solidFill>
            <a:ln w="9525">
              <a:solidFill>
                <a:srgbClr val="DCE5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75604" y="3086100"/>
              <a:ext cx="164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I2</a:t>
              </a:r>
              <a:endParaRPr lang="en-US" sz="12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93942" y="3073400"/>
              <a:ext cx="1936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教师-学生在线系统辨识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76366" y="3397250"/>
              <a:ext cx="502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服务 P3</a:t>
              </a:r>
              <a:endParaRPr lang="zh-CN" sz="1050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6166" y="3397250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真机 3.81 vs 2.49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91200" y="3962400"/>
              <a:ext cx="5943600" cy="838200"/>
            </a:xfrm>
            <a:prstGeom prst="roundRect">
              <a:avLst>
                <a:gd name="adj" fmla="val 15909"/>
              </a:avLst>
            </a:prstGeom>
            <a:solidFill>
              <a:srgbClr val="F8FAFC"/>
            </a:solidFill>
            <a:ln w="9525">
              <a:solidFill>
                <a:srgbClr val="DCE5F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75604" y="4076700"/>
              <a:ext cx="164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I3</a:t>
              </a:r>
              <a:endParaRPr lang="en-US" sz="12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93942" y="4064000"/>
              <a:ext cx="2432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工程简化（h=15、同步训练）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76366" y="4387850"/>
              <a:ext cx="502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服务 P4</a:t>
              </a:r>
              <a:endParaRPr lang="zh-CN" sz="1050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86166" y="4387850"/>
              <a:ext cx="983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50 Hz 机载实时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791200" y="4953000"/>
              <a:ext cx="5943600" cy="838200"/>
            </a:xfrm>
            <a:prstGeom prst="roundRect">
              <a:avLst>
                <a:gd name="adj" fmla="val 15909"/>
              </a:avLst>
            </a:prstGeom>
            <a:solidFill>
              <a:srgbClr val="F8FAFC"/>
            </a:solidFill>
            <a:ln w="9525">
              <a:solidFill>
                <a:srgbClr val="DCE5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75604" y="5067300"/>
              <a:ext cx="164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I4</a:t>
              </a:r>
              <a:endParaRPr lang="en-US" sz="12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93942" y="5054600"/>
              <a:ext cx="2397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command area + Froude 数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76366" y="5378450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服务 评测</a:t>
              </a:r>
              <a:endParaRPr lang="zh-CN" sz="1050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86166" y="53784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可比较的量化指标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1104" y="5753100"/>
              <a:ext cx="1270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sz="120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42" name="Line 42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09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4618052" cy="755650"/>
            <a:chOff x="444246" y="349250"/>
            <a:chExt cx="4618052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8076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02 · 创新 I1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46180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创新 I1：Grid Adaptive 课程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62" name="page-body"/>
          <p:cNvGrpSpPr/>
          <p:nvPr/>
        </p:nvGrpSpPr>
        <p:grpSpPr>
          <a:xfrm>
            <a:off x="450342" y="1416050"/>
            <a:ext cx="11284458" cy="4569778"/>
            <a:chOff x="450342" y="1416050"/>
            <a:chExt cx="11284458" cy="4569778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416050"/>
              <a:ext cx="2758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Grid Adaptive 课程（核心创新）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1104" y="1771650"/>
              <a:ext cx="37078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在离散网格上维护“前后速度 × 转身速度”的联合分布，</a:t>
              </a:r>
              <a:b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掌握一格就向上下左右四邻域扩一格。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457200" y="2686050"/>
              <a:ext cx="4953000" cy="819150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1985" y="281305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无课程</a:t>
              </a:r>
              <a:endParaRPr lang="zh-CN" sz="112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3060700"/>
              <a:ext cx="9943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 ~ U(C₀)</a:t>
              </a:r>
              <a:endPara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80666" y="30353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范围固定，大范围直接崩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57200" y="3676650"/>
              <a:ext cx="4953000" cy="819150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1985" y="3803650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Box</a:t>
              </a:r>
              <a:endParaRPr lang="en-US" sz="112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0080" y="4051300"/>
              <a:ext cx="10647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p(v)·p(ω)</a:t>
              </a:r>
              <a:endParaRPr lang="el-GR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80666" y="4025900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相乘 = 假设两者无关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" y="4667250"/>
              <a:ext cx="4953000" cy="819150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985" y="4794250"/>
              <a:ext cx="324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Grid</a:t>
              </a:r>
              <a:endParaRPr lang="en-US" sz="112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0080" y="5041900"/>
              <a:ext cx="778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p(v, ω)</a:t>
              </a:r>
              <a:endParaRPr lang="el-GR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80666" y="50165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维护联合分布，贴着可行域扩展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485" y="5765800"/>
              <a:ext cx="4558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为何新：把“任务难度不可按维度分解”的物理事实编码进课程结构。</a:t>
              </a:r>
              <a:endParaRPr lang="zh-CN" sz="112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91200" y="1524000"/>
              <a:ext cx="5943600" cy="3810000"/>
            </a:xfrm>
            <a:prstGeom prst="roundRect">
              <a:avLst>
                <a:gd name="adj" fmla="val 5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51804" y="1695450"/>
              <a:ext cx="1635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v–ω 平面上的联合采样</a:t>
              </a:r>
              <a:endParaRPr lang="zh-CN" sz="1200" b="1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324600" y="22098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58000" y="22098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91400" y="22098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924800" y="22098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458200" y="22098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991600" y="22098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525000" y="22098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324600" y="26289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858000" y="26289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91400" y="26289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0E7490"/>
            </a:solidFill>
            <a:ln w="9525">
              <a:solidFill>
                <a:srgbClr val="334155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924800" y="26289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0E7490"/>
            </a:solidFill>
            <a:ln w="9525">
              <a:solidFill>
                <a:srgbClr val="33415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458200" y="26289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0E7490"/>
            </a:solidFill>
            <a:ln w="9525">
              <a:solidFill>
                <a:srgbClr val="33415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991600" y="26289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25000" y="26289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324600" y="30480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58000" y="30480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391400" y="30480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0E7490"/>
            </a:solidFill>
            <a:ln w="9525">
              <a:solidFill>
                <a:srgbClr val="334155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924800" y="30480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0E7490"/>
            </a:solidFill>
            <a:ln w="9525">
              <a:solidFill>
                <a:srgbClr val="334155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458200" y="30480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0E7490"/>
            </a:solidFill>
            <a:ln w="9525">
              <a:solidFill>
                <a:srgbClr val="334155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991600" y="30480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0E7490"/>
            </a:solidFill>
            <a:ln w="9525">
              <a:solidFill>
                <a:srgbClr val="334155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525000" y="30480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324600" y="34671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58000" y="34671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91400" y="34671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0E7490"/>
            </a:solidFill>
            <a:ln w="9525">
              <a:solidFill>
                <a:srgbClr val="334155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924800" y="34671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0E7490"/>
            </a:solidFill>
            <a:ln w="9525">
              <a:solidFill>
                <a:srgbClr val="334155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458200" y="34671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0E7490"/>
            </a:solidFill>
            <a:ln w="9525">
              <a:solidFill>
                <a:srgbClr val="334155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991600" y="34671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525000" y="34671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324600" y="38862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58000" y="38862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91400" y="38862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924800" y="38862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458200" y="38862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991600" y="38862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525000" y="3886200"/>
              <a:ext cx="495300" cy="381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19647" y="1981200"/>
              <a:ext cx="824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ω</a:t>
              </a:r>
              <a:endParaRPr lang="el-GR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129647" y="4191000"/>
              <a:ext cx="824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v</a:t>
              </a:r>
              <a:endPara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17742" y="47117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可行域是双曲线，不是矩形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19266" y="5016500"/>
              <a:ext cx="3301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矩形四角会伸出物理边界；Grid 只在可行格上扩张。</a:t>
              </a:r>
              <a:endPara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63" name="Line 63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6497905" cy="755650"/>
            <a:chOff x="444246" y="349250"/>
            <a:chExt cx="6497905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8076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02 · 创新 I2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64979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创新 I2：高速下的教师-学生在线系统辨识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27" name="page-body"/>
          <p:cNvGrpSpPr/>
          <p:nvPr/>
        </p:nvGrpSpPr>
        <p:grpSpPr>
          <a:xfrm>
            <a:off x="457200" y="1581150"/>
            <a:ext cx="11277600" cy="4057650"/>
            <a:chOff x="457200" y="1581150"/>
            <a:chExt cx="11277600" cy="4057650"/>
          </a:xfrm>
        </p:grpSpPr>
        <p:sp>
          <p:nvSpPr>
            <p:cNvPr id="6" name="Rectangle 6"/>
            <p:cNvSpPr/>
            <p:nvPr/>
          </p:nvSpPr>
          <p:spPr>
            <a:xfrm>
              <a:off x="457200" y="1581150"/>
              <a:ext cx="3657600" cy="2343150"/>
            </a:xfrm>
            <a:prstGeom prst="roundRect">
              <a:avLst>
                <a:gd name="adj" fmla="val 7317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28650" y="177165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7358" y="1845564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23685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教师</a:t>
              </a:r>
              <a:endParaRPr lang="zh-CN" sz="13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6656" y="2717800"/>
              <a:ext cx="10105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z = f(μ)</a:t>
              </a:r>
              <a:endParaRPr lang="el-GR" sz="18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085" y="3155950"/>
              <a:ext cx="2450846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物理参数 → 编码器 → 8 维环境特征码；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 = π(o, z)。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267200" y="1581150"/>
              <a:ext cx="3657600" cy="2343150"/>
            </a:xfrm>
            <a:prstGeom prst="roundRect">
              <a:avLst>
                <a:gd name="adj" fmla="val 7317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438650" y="177165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57358" y="1845564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88942" y="23685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学生</a:t>
              </a:r>
              <a:endParaRPr lang="zh-CN" sz="13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86656" y="271780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ẑ = g(o₁₅)</a:t>
              </a:r>
              <a:endParaRPr lang="en-US" sz="18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90085" y="3155950"/>
              <a:ext cx="1533398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用最近 15 步观测历史，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猜出一个 8 维向量。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77200" y="1581150"/>
              <a:ext cx="3657600" cy="2343150"/>
            </a:xfrm>
            <a:prstGeom prst="roundRect">
              <a:avLst>
                <a:gd name="adj" fmla="val 7317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248650" y="1771650"/>
              <a:ext cx="342900" cy="34290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67358" y="1845564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8942" y="23685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监督</a:t>
              </a:r>
              <a:endParaRPr lang="zh-CN" sz="13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6656" y="2717800"/>
              <a:ext cx="14939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min ‖ẑ − z‖²</a:t>
              </a:r>
              <a:endParaRPr lang="en-US" sz="18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00085" y="3155950"/>
              <a:ext cx="1739646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猜准 ⇒ 复用教师策略主体，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无需重训动作网络。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7200" y="4229100"/>
              <a:ext cx="11277600" cy="1409700"/>
            </a:xfrm>
            <a:prstGeom prst="roundRect">
              <a:avLst>
                <a:gd name="adj" fmla="val 10811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7042" y="4425950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为什么有效 / 与谁不同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7804" y="4711700"/>
              <a:ext cx="810463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前人只在低速证明系统辨识有用，本文推进到高速区间；Ji 等做显式状态估计，本文做隐式域参数推断。</a:t>
              </a:r>
              <a:b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价值不在“模仿”，而在用模仿逼出隐式系统辨识：没人要求学生预测摩擦系数，学生为了像教师必须自己提取环境差异。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28" name="Line 28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11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5116441" cy="755650"/>
            <a:chOff x="444246" y="349250"/>
            <a:chExt cx="5116441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027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02 · 创新 I3/I4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51164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创新 I3/I4：工程简化与评测贡献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15" name="page-body"/>
          <p:cNvGrpSpPr/>
          <p:nvPr/>
        </p:nvGrpSpPr>
        <p:grpSpPr>
          <a:xfrm>
            <a:off x="457200" y="1524000"/>
            <a:ext cx="11277600" cy="4476750"/>
            <a:chOff x="457200" y="1524000"/>
            <a:chExt cx="11277600" cy="4476750"/>
          </a:xfrm>
        </p:grpSpPr>
        <p:sp>
          <p:nvSpPr>
            <p:cNvPr id="6" name="Rectangle 6"/>
            <p:cNvSpPr/>
            <p:nvPr/>
          </p:nvSpPr>
          <p:spPr>
            <a:xfrm>
              <a:off x="457200" y="1524000"/>
              <a:ext cx="55626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8942" y="1720850"/>
              <a:ext cx="24264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I3 两个机制的合体与工程简化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0085" y="2070100"/>
              <a:ext cx="3282950" cy="1363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单一策略同时完成室内外奔跑与旋转；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模型控制通常需要两个控制器。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仅用陀螺仪 + 关节编码器，不依赖视觉；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历史长度 h=15（300 ms），与教师同步训练。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学生猜准后复用教师策略主体，无需重训动作网络。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72200" y="1524000"/>
              <a:ext cx="55626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393942" y="1720850"/>
              <a:ext cx="1517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I4 评测层面的贡献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95085" y="2070100"/>
              <a:ext cx="2749550" cy="1363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command area：给定误差容忍下，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可驾驭的速度组合总面积。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Froude 数：v²/(g·l)，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跨平台归一化敏捷性。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首次证明 RL 可达 Fr ≥ 1（与 Ji 等同期）。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57200" y="5238750"/>
              <a:ext cx="11277600" cy="762000"/>
            </a:xfrm>
            <a:prstGeom prst="roundRect">
              <a:avLst>
                <a:gd name="adj" fmla="val 175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7042" y="5416550"/>
              <a:ext cx="541147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不是新</a:t>
              </a:r>
              <a:r>
                <a:rPr alt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</a:t>
              </a:r>
              <a:r>
                <a:rPr lang="en-US" alt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强化学习</a:t>
              </a:r>
              <a:r>
                <a:rPr alt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</a:t>
              </a:r>
              <a:r>
                <a:rPr lang="en-US" alt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，而是问题建模 + 课程结构 + 训练范式组合。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8947" y="5715000"/>
              <a:ext cx="44202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I3 让方法可落地，I4 让效果可比较；两者共同构成论文的工程与评测贡献。</a:t>
              </a:r>
              <a:endPara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16" name="Line 1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12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section-title"/>
          <p:cNvGrpSpPr/>
          <p:nvPr/>
        </p:nvGrpSpPr>
        <p:grpSpPr>
          <a:xfrm>
            <a:off x="742950" y="1454150"/>
            <a:ext cx="1975866" cy="1879600"/>
            <a:chOff x="742950" y="1454150"/>
            <a:chExt cx="1975866" cy="1879600"/>
          </a:xfrm>
        </p:grpSpPr>
        <p:sp>
          <p:nvSpPr>
            <p:cNvPr id="2" name="TextBox 2"/>
            <p:cNvSpPr txBox="1"/>
            <p:nvPr/>
          </p:nvSpPr>
          <p:spPr>
            <a:xfrm>
              <a:off x="742950" y="1454150"/>
              <a:ext cx="924371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57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3712" y="254635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方法框架</a:t>
              </a:r>
              <a:endParaRPr lang="zh-CN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3276600"/>
              <a:ext cx="1143000" cy="5715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7" name="section-intro"/>
          <p:cNvGrpSpPr/>
          <p:nvPr/>
        </p:nvGrpSpPr>
        <p:grpSpPr>
          <a:xfrm>
            <a:off x="754380" y="4286250"/>
            <a:ext cx="3272790" cy="598170"/>
            <a:chOff x="754380" y="4286250"/>
            <a:chExt cx="3272790" cy="598170"/>
          </a:xfrm>
        </p:grpSpPr>
        <p:sp>
          <p:nvSpPr>
            <p:cNvPr id="6" name="TextBox 6"/>
            <p:cNvSpPr txBox="1"/>
            <p:nvPr/>
          </p:nvSpPr>
          <p:spPr>
            <a:xfrm>
              <a:off x="754380" y="4286250"/>
              <a:ext cx="32727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从传感器输入到 50 Hz 关节位置输出，</a:t>
              </a:r>
              <a:b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教师-学生与课程框架如何协同。</a:t>
              </a:r>
              <a:endParaRPr lang="zh-CN" sz="150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section-points"/>
          <p:cNvGrpSpPr/>
          <p:nvPr/>
        </p:nvGrpSpPr>
        <p:grpSpPr>
          <a:xfrm>
            <a:off x="762000" y="5429250"/>
            <a:ext cx="10467975" cy="571500"/>
            <a:chOff x="762000" y="5429250"/>
            <a:chExt cx="10467975" cy="571500"/>
          </a:xfrm>
        </p:grpSpPr>
        <p:sp>
          <p:nvSpPr>
            <p:cNvPr id="8" name="Rectangle 8"/>
            <p:cNvSpPr/>
            <p:nvPr/>
          </p:nvSpPr>
          <p:spPr>
            <a:xfrm>
              <a:off x="762000" y="5429250"/>
              <a:ext cx="3362325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5454" y="56197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系统总览与网络结构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14825" y="5429250"/>
              <a:ext cx="3362325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314825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18279" y="56197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问题形式化与部署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67650" y="5429250"/>
              <a:ext cx="3362325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67650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71104" y="56197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课程框架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18" name="Line 18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13</a:t>
              </a:r>
              <a:endPara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4831842" cy="755650"/>
            <a:chOff x="444246" y="349250"/>
            <a:chExt cx="4831842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03 · 方法框架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系统总览：从传感器到关节力矩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35" name="page-body"/>
          <p:cNvGrpSpPr/>
          <p:nvPr/>
        </p:nvGrpSpPr>
        <p:grpSpPr>
          <a:xfrm>
            <a:off x="457200" y="2095500"/>
            <a:ext cx="11277600" cy="3524250"/>
            <a:chOff x="457200" y="2095500"/>
            <a:chExt cx="11277600" cy="3524250"/>
          </a:xfrm>
        </p:grpSpPr>
        <p:sp>
          <p:nvSpPr>
            <p:cNvPr id="6" name="Rectangle 6"/>
            <p:cNvSpPr/>
            <p:nvPr/>
          </p:nvSpPr>
          <p:spPr>
            <a:xfrm>
              <a:off x="457200" y="2095500"/>
              <a:ext cx="1981200" cy="1524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42366" y="2311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0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0842" y="25590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传感器观测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2747" y="2876550"/>
              <a:ext cx="1378966" cy="591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12 关节角 + 12 关节速度</a:t>
              </a:r>
              <a:b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+ 重力方向 + 上一步动作</a:t>
              </a:r>
              <a:b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+ 速度指令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2514600" y="2857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781300" y="2095500"/>
              <a:ext cx="1981200" cy="1524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966466" y="2311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0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64942" y="25590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历史窗口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66847" y="2914650"/>
              <a:ext cx="12104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最近 15 步 = 300 ms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4838700" y="2857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105400" y="2095500"/>
              <a:ext cx="1981200" cy="1524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90566" y="2311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0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89042" y="25590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策略网络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90947" y="2876550"/>
              <a:ext cx="962025" cy="391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5 层 MLP · 50 Hz</a:t>
              </a:r>
              <a:b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Jetson TX2 NX</a:t>
              </a:r>
              <a:endParaRPr lang="en-US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7162800" y="2857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429500" y="2095500"/>
              <a:ext cx="1981200" cy="1524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14666" y="2311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0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13142" y="25590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动作输出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15047" y="2914650"/>
              <a:ext cx="13027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12 个关节目标位置 q*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9486900" y="2857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753600" y="2095500"/>
              <a:ext cx="1981200" cy="1524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938766" y="23114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0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37242" y="2559050"/>
              <a:ext cx="659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PD 控制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39147" y="2876550"/>
              <a:ext cx="1186053" cy="391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l-GR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τ = Kp(q*−q) − Kd·q̇</a:t>
              </a:r>
              <a:br>
                <a:rPr lang="el-GR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Kp=20, Kd=0.5</a:t>
              </a:r>
              <a:endParaRPr lang="en-US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57200" y="3981450"/>
              <a:ext cx="11277600" cy="533400"/>
            </a:xfrm>
            <a:prstGeom prst="roundRect">
              <a:avLst>
                <a:gd name="adj" fmla="val 21429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7042" y="4140200"/>
              <a:ext cx="6800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关节力矩 → Mini Cheetah：网络输出位置，不是力矩；PD 只做一次“很软”的转换。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7200" y="4819650"/>
              <a:ext cx="11277600" cy="800100"/>
            </a:xfrm>
            <a:prstGeom prst="roundRect">
              <a:avLst>
                <a:gd name="adj" fmla="val 16667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7042" y="4997450"/>
              <a:ext cx="2567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C4A6E"/>
                  </a:solidFill>
                  <a:latin typeface="+mn-lt"/>
                  <a:ea typeface="+mn-ea"/>
                  <a:cs typeface="+mn-cs"/>
                </a:rPr>
                <a:t>极简感知：仅关节编码器 + IMU</a:t>
              </a:r>
              <a:endParaRPr lang="zh-CN" sz="1350" b="1" dirty="0">
                <a:solidFill>
                  <a:srgbClr val="0C4A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8185" y="5289550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369A1"/>
                  </a:solidFill>
                  <a:latin typeface="+mn-lt"/>
                  <a:ea typeface="+mn-ea"/>
                  <a:cs typeface="+mn-cs"/>
                </a:rPr>
                <a:t>任何典型四足机器人（包括低成本商用平台）都具备这套传感器配置。</a:t>
              </a:r>
              <a:endParaRPr lang="zh-CN" sz="1120" dirty="0">
                <a:solidFill>
                  <a:srgbClr val="0369A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36" name="Line 3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14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3458718" cy="755650"/>
            <a:chOff x="444246" y="349250"/>
            <a:chExt cx="3458718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03 · 方法框架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问题形式化与训练部署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34" name="page-body"/>
          <p:cNvGrpSpPr/>
          <p:nvPr/>
        </p:nvGrpSpPr>
        <p:grpSpPr>
          <a:xfrm>
            <a:off x="450342" y="1416050"/>
            <a:ext cx="11284458" cy="4432300"/>
            <a:chOff x="450342" y="1416050"/>
            <a:chExt cx="11284458" cy="4432300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4160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问题形式化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1866" y="183515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观测 o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23035" y="1822450"/>
              <a:ext cx="3366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12 关节角 + 12 关节速度 + 重力方向 + 上一步动作</a:t>
              </a:r>
              <a:endParaRPr lang="zh-CN" sz="112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457200" y="21145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1866" y="242570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指令 c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3035" y="2413000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前后速度、左右速度、转身速度（部署时遥控器给定）</a:t>
              </a:r>
              <a:endParaRPr lang="zh-CN" sz="112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457200" y="27051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1866" y="301625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动作 a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3035" y="3003550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12 个关节目标位置</a:t>
              </a:r>
              <a:endParaRPr lang="zh-CN" sz="112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457200" y="32956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1866" y="3606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目标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3035" y="35941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最大化折扣累计奖励</a:t>
              </a:r>
              <a:endParaRPr lang="zh-CN" sz="112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457200" y="38862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1866" y="41973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奖励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23035" y="4184650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速度跟踪 + 稳定性 + 平滑性 + 安全性</a:t>
              </a:r>
              <a:endParaRPr lang="zh-CN" sz="112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457200" y="44767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84342" y="14160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训练流程：三阶段一图流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91200" y="1962150"/>
              <a:ext cx="5943600" cy="876300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75604" y="2095500"/>
              <a:ext cx="1457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① 教师训练（PPO）</a:t>
              </a:r>
              <a:endParaRPr lang="zh-CN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76366" y="2406650"/>
              <a:ext cx="38112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4000 并行 agent，4 亿时间步，IsaacGym + RTX 3090 &lt; 3 h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791200" y="3009900"/>
              <a:ext cx="5943600" cy="876300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75604" y="3143250"/>
              <a:ext cx="3062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② 学生训练（同步 on-policy，行为克隆）</a:t>
              </a:r>
              <a:endParaRPr lang="zh-CN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76366" y="3454400"/>
              <a:ext cx="23005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损失 ‖ẑ − z‖²；学生不重训动作网络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91200" y="4057650"/>
              <a:ext cx="5943600" cy="876300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75604" y="4191000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③ 零样本部署</a:t>
              </a:r>
              <a:endParaRPr lang="zh-CN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76366" y="4502150"/>
              <a:ext cx="28057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学生策略 → Jetson TX2 NX → 50 Hz，不微调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7200" y="5143500"/>
              <a:ext cx="11277600" cy="704850"/>
            </a:xfrm>
            <a:prstGeom prst="roundRect">
              <a:avLst>
                <a:gd name="adj" fmla="val 18919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6280" y="5384800"/>
              <a:ext cx="58312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4000 并行 agent · 4 亿时间步 · RTX 3090 &lt; 3 h · 机载 50 Hz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35" name="Line 35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4145280" cy="755650"/>
            <a:chOff x="444246" y="349250"/>
            <a:chExt cx="4145280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03 · 方法框架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课程框架：四种方案的递进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38" name="page-body"/>
          <p:cNvGrpSpPr/>
          <p:nvPr/>
        </p:nvGrpSpPr>
        <p:grpSpPr>
          <a:xfrm>
            <a:off x="457200" y="1524000"/>
            <a:ext cx="11277600" cy="4480560"/>
            <a:chOff x="457200" y="1524000"/>
            <a:chExt cx="11277600" cy="4480560"/>
          </a:xfrm>
        </p:grpSpPr>
        <p:sp>
          <p:nvSpPr>
            <p:cNvPr id="6" name="Rectangle 6"/>
            <p:cNvSpPr/>
            <p:nvPr/>
          </p:nvSpPr>
          <p:spPr>
            <a:xfrm>
              <a:off x="457200" y="1524000"/>
              <a:ext cx="7239000" cy="400050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524000"/>
              <a:ext cx="7239000" cy="457200"/>
            </a:xfrm>
            <a:prstGeom prst="roundRect">
              <a:avLst>
                <a:gd name="adj" fmla="val 33333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416" y="1701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方案</a:t>
              </a:r>
              <a:endParaRPr lang="zh-CN" sz="1050" b="1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90166" y="1701800"/>
              <a:ext cx="533400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更新规则</a:t>
              </a:r>
              <a:endParaRPr lang="zh-CN" sz="1050" b="1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09666" y="1701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结论</a:t>
              </a:r>
              <a:endParaRPr lang="zh-CN" sz="1050" b="1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57200" y="2133600"/>
              <a:ext cx="7239000" cy="6096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DCE5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035" y="235585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无课程</a:t>
              </a:r>
              <a:endParaRPr lang="zh-CN" sz="112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90166" y="23685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每局采样规则不变</a:t>
              </a:r>
              <a:endParaRPr lang="zh-CN" sz="105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09666" y="23685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小范围能学，大范围失败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57200" y="2743200"/>
              <a:ext cx="7239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035" y="29654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固定课表</a:t>
              </a:r>
              <a:endParaRPr lang="zh-CN" sz="112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0166" y="29781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按训练轮次扩范围</a:t>
              </a:r>
              <a:endParaRPr lang="zh-CN" sz="105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09666" y="29781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需手工调，换环境要重调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7200" y="3352800"/>
              <a:ext cx="7239000" cy="6096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DCE5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1035" y="35750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奖励驱动</a:t>
              </a:r>
              <a:endParaRPr lang="zh-CN" sz="112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90166" y="3587750"/>
              <a:ext cx="1466850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按跟踪表现决定是否扩</a:t>
              </a:r>
              <a:r>
                <a:rPr altLang="en-US" sz="105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大</a:t>
              </a:r>
              <a:endParaRPr alt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9666" y="35877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自动，但未处理耦合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7200" y="3962400"/>
              <a:ext cx="7239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035" y="4184650"/>
              <a:ext cx="940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Box Adaptive</a:t>
              </a:r>
              <a:endPara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90166" y="4197350"/>
              <a:ext cx="1940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v、ω 各自独立扩展 p(v)·p(ω)</a:t>
              </a:r>
              <a:endParaRPr lang="zh-CN" sz="105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09666" y="41973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可用，但覆盖窄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57200" y="4572000"/>
              <a:ext cx="7239000" cy="609600"/>
            </a:xfrm>
            <a:prstGeom prst="rect">
              <a:avLst/>
            </a:prstGeom>
            <a:solidFill>
              <a:srgbClr val="ECFEFF"/>
            </a:solidFill>
            <a:ln w="9525">
              <a:solidFill>
                <a:srgbClr val="DCE5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035" y="4794250"/>
              <a:ext cx="1034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Grid Adaptive</a:t>
              </a:r>
              <a:endPara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90166" y="4806950"/>
              <a:ext cx="197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联合分布 p(v, ω)，四邻域扩展</a:t>
              </a:r>
              <a:endParaRPr lang="zh-CN" sz="1050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09666" y="48069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指令面积最大</a:t>
              </a:r>
              <a:endParaRPr lang="zh-CN" sz="10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924800" y="1524000"/>
              <a:ext cx="3810000" cy="4000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10347" y="1695450"/>
              <a:ext cx="15287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论文 Fig.3(a)：指令面积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077200" y="2206729"/>
              <a:ext cx="3505200" cy="1777791"/>
            </a:xfrm>
            <a:prstGeom prst="rect">
              <a:avLst/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8109966" y="4349750"/>
              <a:ext cx="26109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同一误差阈值下，Grid 的指令面积最大。</a:t>
              </a:r>
              <a:endParaRPr lang="zh-CN" sz="10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10347" y="4610100"/>
              <a:ext cx="23846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误差阈值越大，三条曲线的差距越明显。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10347" y="4857750"/>
              <a:ext cx="27803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这说明联合分布确实覆盖了更多可行速度组合。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9704" y="5638800"/>
              <a:ext cx="1270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sz="120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39" name="Line 39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17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section-title"/>
          <p:cNvGrpSpPr/>
          <p:nvPr/>
        </p:nvGrpSpPr>
        <p:grpSpPr>
          <a:xfrm>
            <a:off x="742950" y="1454150"/>
            <a:ext cx="3429762" cy="1879600"/>
            <a:chOff x="742950" y="1454150"/>
            <a:chExt cx="3429762" cy="1879600"/>
          </a:xfrm>
        </p:grpSpPr>
        <p:sp>
          <p:nvSpPr>
            <p:cNvPr id="2" name="TextBox 2"/>
            <p:cNvSpPr txBox="1"/>
            <p:nvPr/>
          </p:nvSpPr>
          <p:spPr>
            <a:xfrm>
              <a:off x="742950" y="1454150"/>
              <a:ext cx="924371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57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3712" y="254635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关键公式与作用</a:t>
              </a:r>
              <a:endParaRPr lang="zh-CN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3276600"/>
              <a:ext cx="1143000" cy="5715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7" name="section-intro"/>
          <p:cNvGrpSpPr/>
          <p:nvPr/>
        </p:nvGrpSpPr>
        <p:grpSpPr>
          <a:xfrm>
            <a:off x="754380" y="4286250"/>
            <a:ext cx="4415790" cy="598170"/>
            <a:chOff x="754380" y="4286250"/>
            <a:chExt cx="4415790" cy="598170"/>
          </a:xfrm>
        </p:grpSpPr>
        <p:sp>
          <p:nvSpPr>
            <p:cNvPr id="6" name="TextBox 6"/>
            <p:cNvSpPr txBox="1"/>
            <p:nvPr/>
          </p:nvSpPr>
          <p:spPr>
            <a:xfrm>
              <a:off x="754380" y="4286250"/>
              <a:ext cx="44157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先给出方法—子问题—作用映射，再用六处板书展开：</a:t>
              </a:r>
              <a:b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动作、环境特征码、在线辨识、课程结构与评测。</a:t>
              </a:r>
              <a:endParaRPr lang="zh-CN" sz="150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section-points"/>
          <p:cNvGrpSpPr/>
          <p:nvPr/>
        </p:nvGrpSpPr>
        <p:grpSpPr>
          <a:xfrm>
            <a:off x="787400" y="5429250"/>
            <a:ext cx="10452100" cy="571500"/>
            <a:chOff x="762000" y="5429250"/>
            <a:chExt cx="10477500" cy="571500"/>
          </a:xfrm>
        </p:grpSpPr>
        <p:sp>
          <p:nvSpPr>
            <p:cNvPr id="8" name="Rectangle 8"/>
            <p:cNvSpPr/>
            <p:nvPr/>
          </p:nvSpPr>
          <p:spPr>
            <a:xfrm>
              <a:off x="762000" y="5429250"/>
              <a:ext cx="2476500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5454" y="5619750"/>
              <a:ext cx="819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方法映射表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29000" y="5429250"/>
              <a:ext cx="2476500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429000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32454" y="5619750"/>
              <a:ext cx="8534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动作 → 力矩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0" y="5429250"/>
              <a:ext cx="2476500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99454" y="5619750"/>
              <a:ext cx="13045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教师与学生的猜测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763000" y="5429250"/>
              <a:ext cx="2476500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763000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66454" y="5619750"/>
              <a:ext cx="9814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可行域与评测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21" name="Line 21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18</a:t>
              </a:r>
              <a:endPara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4794939" cy="755650"/>
            <a:chOff x="444246" y="349250"/>
            <a:chExt cx="4794939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04 · 关键公式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4794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关键公式 ①：动作如何变成力矩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24" name="page-body"/>
          <p:cNvGrpSpPr/>
          <p:nvPr/>
        </p:nvGrpSpPr>
        <p:grpSpPr>
          <a:xfrm>
            <a:off x="457200" y="1524000"/>
            <a:ext cx="11277600" cy="4381500"/>
            <a:chOff x="457200" y="1524000"/>
            <a:chExt cx="11277600" cy="4381500"/>
          </a:xfrm>
        </p:grpSpPr>
        <p:sp>
          <p:nvSpPr>
            <p:cNvPr id="6" name="Rectangle 6"/>
            <p:cNvSpPr/>
            <p:nvPr/>
          </p:nvSpPr>
          <p:spPr>
            <a:xfrm>
              <a:off x="457200" y="1524000"/>
              <a:ext cx="11277600" cy="1428750"/>
            </a:xfrm>
            <a:prstGeom prst="roundRect">
              <a:avLst>
                <a:gd name="adj" fmla="val 12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8566" y="173990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板书 1</a:t>
              </a:r>
              <a:endParaRPr lang="zh-CN" sz="10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8660" y="2032000"/>
              <a:ext cx="4352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τ = Kp(q* − q) − Kd·q̇</a:t>
              </a:r>
              <a:endParaRPr lang="el-GR" sz="30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7042" y="2559050"/>
              <a:ext cx="1550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Kp = 20，Kd = 0.5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57200" y="3276600"/>
              <a:ext cx="3657600" cy="1809750"/>
            </a:xfrm>
            <a:prstGeom prst="roundRect">
              <a:avLst>
                <a:gd name="adj" fmla="val 9474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416" y="34734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前项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9130" y="37655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把关节拉向目标角度</a:t>
              </a:r>
              <a:endParaRPr lang="zh-CN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4165600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比例项负责“拉过去”。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267200" y="3276600"/>
              <a:ext cx="3657600" cy="1809750"/>
            </a:xfrm>
            <a:prstGeom prst="roundRect">
              <a:avLst>
                <a:gd name="adj" fmla="val 9474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71416" y="34734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后项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69130" y="37655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阻尼，避免冲过头</a:t>
              </a:r>
              <a:endParaRPr lang="zh-CN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1035" y="4165600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微分项负责“别冲太快”。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77200" y="3276600"/>
              <a:ext cx="3657600" cy="1809750"/>
            </a:xfrm>
            <a:prstGeom prst="roundRect">
              <a:avLst>
                <a:gd name="adj" fmla="val 9474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81416" y="34734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关键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79130" y="37655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增益故意取小</a:t>
              </a:r>
              <a:endParaRPr lang="zh-CN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81035" y="4127500"/>
              <a:ext cx="143383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动作柔、误差不放大、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全程未调参。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7200" y="5391150"/>
              <a:ext cx="11277600" cy="514350"/>
            </a:xfrm>
            <a:prstGeom prst="roundRect">
              <a:avLst>
                <a:gd name="adj" fmla="val 22222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7042" y="5549900"/>
              <a:ext cx="4976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C4A6E"/>
                  </a:solidFill>
                  <a:latin typeface="+mn-lt"/>
                  <a:ea typeface="+mn-ea"/>
                  <a:cs typeface="+mn-cs"/>
                </a:rPr>
                <a:t>作用：零样本迁移的第一层保障——控制层够“软”、不挑参数。</a:t>
              </a:r>
              <a:endParaRPr lang="zh-CN" sz="1350" b="1" dirty="0">
                <a:solidFill>
                  <a:srgbClr val="0C4A6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25" name="Line 25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20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6168063" cy="755650"/>
            <a:chOff x="444246" y="349250"/>
            <a:chExt cx="6168063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04 · 关键公式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61680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关键公式 ②：教师的门牌号与学生的猜测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20" name="page-body"/>
          <p:cNvGrpSpPr/>
          <p:nvPr/>
        </p:nvGrpSpPr>
        <p:grpSpPr>
          <a:xfrm>
            <a:off x="457200" y="1485900"/>
            <a:ext cx="11277600" cy="4514850"/>
            <a:chOff x="457200" y="1485900"/>
            <a:chExt cx="11277600" cy="4514850"/>
          </a:xfrm>
        </p:grpSpPr>
        <p:sp>
          <p:nvSpPr>
            <p:cNvPr id="6" name="Rectangle 6"/>
            <p:cNvSpPr/>
            <p:nvPr/>
          </p:nvSpPr>
          <p:spPr>
            <a:xfrm>
              <a:off x="457200" y="1485900"/>
              <a:ext cx="5562600" cy="1562100"/>
            </a:xfrm>
            <a:prstGeom prst="roundRect">
              <a:avLst>
                <a:gd name="adj" fmla="val 10976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8566" y="1701800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板书 2：教师</a:t>
              </a:r>
              <a:endParaRPr lang="zh-CN" sz="10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2470" y="1955800"/>
              <a:ext cx="1613059" cy="878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l-GR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 = f(μ)</a:t>
              </a:r>
              <a:br>
                <a:rPr lang="el-GR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l-GR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= π(o, z)</a:t>
              </a:r>
              <a:endParaRPr lang="el-GR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72200" y="1485900"/>
              <a:ext cx="5562600" cy="1562100"/>
            </a:xfrm>
            <a:prstGeom prst="roundRect">
              <a:avLst>
                <a:gd name="adj" fmla="val 10976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33566" y="1701800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板书 3：学生</a:t>
              </a:r>
              <a:endParaRPr lang="zh-CN" sz="105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27470" y="1955800"/>
              <a:ext cx="1763078" cy="878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ẑ = g(o₁₅)</a:t>
              </a:r>
              <a:b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min ‖ẑ − z‖²</a:t>
              </a:r>
              <a:endParaRPr lang="en-US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57200" y="3276600"/>
              <a:ext cx="5562600" cy="2038350"/>
            </a:xfrm>
            <a:prstGeom prst="roundRect">
              <a:avLst>
                <a:gd name="adj" fmla="val 8411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085" y="3479800"/>
              <a:ext cx="31524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μ：质量、摩擦、电机强度…… → 8 维环境特征码</a:t>
              </a:r>
              <a:endParaRPr lang="zh-CN" sz="112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704" y="3759200"/>
              <a:ext cx="331165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有了 z 才能区分冰面 / 草地；</a:t>
              </a:r>
              <a:b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纯 DR 没有 z，只能学一套“都凑合”的保守行为。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72200" y="3276600"/>
              <a:ext cx="5562600" cy="2038350"/>
            </a:xfrm>
            <a:prstGeom prst="roundRect">
              <a:avLst>
                <a:gd name="adj" fmla="val 8411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95085" y="3479800"/>
              <a:ext cx="1676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15 步 = 300 ms @ 50 Hz</a:t>
              </a:r>
              <a:endParaRPr lang="zh-CN" sz="112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4704" y="3759200"/>
              <a:ext cx="338023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单帧不足以判断环境，要看动态响应；</a:t>
              </a:r>
              <a:b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只要求“猜得像教师”，系统辨识是模仿的副产品。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57200" y="5581650"/>
              <a:ext cx="11277600" cy="419100"/>
            </a:xfrm>
            <a:prstGeom prst="roundRect">
              <a:avLst>
                <a:gd name="adj" fmla="val 27273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7423" y="5695950"/>
              <a:ext cx="38305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C4A6E"/>
                  </a:solidFill>
                  <a:latin typeface="+mn-lt"/>
                  <a:ea typeface="+mn-ea"/>
                  <a:cs typeface="+mn-cs"/>
                </a:rPr>
                <a:t>价值不在“模仿”，而在用模仿逼出隐式系统辨识。</a:t>
              </a:r>
              <a:endParaRPr lang="zh-CN" sz="1280" b="1" dirty="0">
                <a:solidFill>
                  <a:srgbClr val="0C4A6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21" name="Line 21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21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4794939" cy="755650"/>
            <a:chOff x="444246" y="349250"/>
            <a:chExt cx="4794939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04 · 关键公式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4794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关键公式 ③：物理可行域与评测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22" name="page-body"/>
          <p:cNvGrpSpPr/>
          <p:nvPr/>
        </p:nvGrpSpPr>
        <p:grpSpPr>
          <a:xfrm>
            <a:off x="457200" y="1581150"/>
            <a:ext cx="11506200" cy="4406646"/>
            <a:chOff x="457200" y="1581150"/>
            <a:chExt cx="11506200" cy="4406646"/>
          </a:xfrm>
        </p:grpSpPr>
        <p:sp>
          <p:nvSpPr>
            <p:cNvPr id="6" name="Rectangle 6"/>
            <p:cNvSpPr/>
            <p:nvPr/>
          </p:nvSpPr>
          <p:spPr>
            <a:xfrm>
              <a:off x="457200" y="1581150"/>
              <a:ext cx="3733800" cy="25717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1416" y="17970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物理约束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56844" y="2139950"/>
              <a:ext cx="10947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v·ω ≤ μg</a:t>
              </a:r>
              <a:endParaRPr lang="el-GR" sz="19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2679700"/>
              <a:ext cx="314071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向心力只能由摩擦提供；约掉质量得双曲线上界。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3.9 m/s ⇒ ω ≤ 2.5 rad/s。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343400" y="1581150"/>
              <a:ext cx="3733800" cy="25717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47616" y="17970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课程结构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43044" y="2139950"/>
              <a:ext cx="14806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 ~ p(v, ω)</a:t>
              </a:r>
              <a:endParaRPr lang="el-GR" sz="19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47235" y="2679700"/>
              <a:ext cx="250774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无课程 c~U(C₀)；Box p(v)·p(ω)；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Grid p(v,ω)。矩形套不住弯曲可行域。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229600" y="1581150"/>
              <a:ext cx="3733800" cy="25717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33816" y="17970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评测指标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9244" y="2139950"/>
              <a:ext cx="13877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A(ε) 与 Fr</a:t>
              </a:r>
              <a:endParaRPr lang="zh-CN" sz="19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3435" y="2679700"/>
              <a:ext cx="246507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A(ε)=误差达标格子面积；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Fr=v²/(g·l)=3.9²/(9.8×0.3)≈5.1。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57200" y="4476750"/>
              <a:ext cx="11277600" cy="11430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4756" y="466090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可行域本来就是弯的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7423" y="5067300"/>
              <a:ext cx="48863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用矩形去套必然四角越界；Grid 是把物理约束编码进课程结构。</a:t>
              </a:r>
              <a:endParaRPr lang="zh-CN" sz="128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7804" y="5753100"/>
              <a:ext cx="4486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因果闭环：D2 → c~p(v,ω) → 图 3 反比边界 → 指令面积更大。</a:t>
              </a:r>
              <a:endParaRPr lang="zh-CN" sz="120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23" name="Line 23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22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section-title"/>
          <p:cNvGrpSpPr/>
          <p:nvPr/>
        </p:nvGrpSpPr>
        <p:grpSpPr>
          <a:xfrm>
            <a:off x="742950" y="1454150"/>
            <a:ext cx="2460498" cy="1879600"/>
            <a:chOff x="742950" y="1454150"/>
            <a:chExt cx="2460498" cy="1879600"/>
          </a:xfrm>
        </p:grpSpPr>
        <p:sp>
          <p:nvSpPr>
            <p:cNvPr id="2" name="TextBox 2"/>
            <p:cNvSpPr txBox="1"/>
            <p:nvPr/>
          </p:nvSpPr>
          <p:spPr>
            <a:xfrm>
              <a:off x="742950" y="1454150"/>
              <a:ext cx="924371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57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3712" y="254635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结论与局限</a:t>
              </a:r>
              <a:endParaRPr lang="zh-CN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3276600"/>
              <a:ext cx="1143000" cy="5715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7" name="section-intro"/>
          <p:cNvGrpSpPr/>
          <p:nvPr/>
        </p:nvGrpSpPr>
        <p:grpSpPr>
          <a:xfrm>
            <a:off x="754380" y="4286250"/>
            <a:ext cx="3063240" cy="598170"/>
            <a:chOff x="754380" y="4286250"/>
            <a:chExt cx="3063240" cy="598170"/>
          </a:xfrm>
        </p:grpSpPr>
        <p:sp>
          <p:nvSpPr>
            <p:cNvPr id="6" name="TextBox 6"/>
            <p:cNvSpPr txBox="1"/>
            <p:nvPr/>
          </p:nvSpPr>
          <p:spPr>
            <a:xfrm>
              <a:off x="754380" y="4286250"/>
              <a:ext cx="3063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回到唯一核心问题，给出证据闭环、</a:t>
              </a:r>
              <a:b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局限与未来方向。</a:t>
              </a:r>
              <a:endParaRPr lang="zh-CN" sz="150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section-points"/>
          <p:cNvGrpSpPr/>
          <p:nvPr/>
        </p:nvGrpSpPr>
        <p:grpSpPr>
          <a:xfrm>
            <a:off x="762000" y="5429250"/>
            <a:ext cx="10467975" cy="571500"/>
            <a:chOff x="762000" y="5429250"/>
            <a:chExt cx="10467975" cy="571500"/>
          </a:xfrm>
        </p:grpSpPr>
        <p:sp>
          <p:nvSpPr>
            <p:cNvPr id="8" name="Rectangle 8"/>
            <p:cNvSpPr/>
            <p:nvPr/>
          </p:nvSpPr>
          <p:spPr>
            <a:xfrm>
              <a:off x="762000" y="5429250"/>
              <a:ext cx="3362325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5454" y="56197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结论闭环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14825" y="5429250"/>
              <a:ext cx="3362325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314825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18279" y="56197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局限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67650" y="5429250"/>
              <a:ext cx="3362325" cy="571500"/>
            </a:xfrm>
            <a:prstGeom prst="roundRect">
              <a:avLst>
                <a:gd name="adj" fmla="val 16667"/>
              </a:avLst>
            </a:prstGeom>
            <a:solidFill>
              <a:srgbClr val="111C33"/>
            </a:solidFill>
            <a:ln w="9525">
              <a:solidFill>
                <a:srgbClr val="1E293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67650" y="5429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71104" y="56197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未来方向</a:t>
              </a:r>
              <a:endParaRPr lang="zh-CN" sz="1200" b="1" dirty="0">
                <a:solidFill>
                  <a:srgbClr val="E2E8F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18" name="Line 18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28</a:t>
              </a:r>
              <a:endPara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4198489" cy="755650"/>
            <a:chOff x="444246" y="349250"/>
            <a:chExt cx="4198489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627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06 · 结论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41984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结论：问题—方法—证据闭环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27" name="page-body"/>
          <p:cNvGrpSpPr/>
          <p:nvPr/>
        </p:nvGrpSpPr>
        <p:grpSpPr>
          <a:xfrm>
            <a:off x="450342" y="1416050"/>
            <a:ext cx="11284458" cy="4565650"/>
            <a:chOff x="450342" y="1416050"/>
            <a:chExt cx="11284458" cy="4565650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416050"/>
              <a:ext cx="167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问题—方法—证据闭环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1962150"/>
              <a:ext cx="59055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1985" y="2108200"/>
              <a:ext cx="5717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P1 / P2</a:t>
              </a:r>
              <a:endParaRPr lang="en-US" sz="112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0842" y="2387600"/>
              <a:ext cx="1709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Grid 课程 c~p(v,ω)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2747" y="2667000"/>
              <a:ext cx="11774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图 3：更大指令面积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57200" y="3086100"/>
              <a:ext cx="59055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1985" y="3232150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P3</a:t>
              </a:r>
              <a:endParaRPr lang="en-US" sz="112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0842" y="3511550"/>
              <a:ext cx="1572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教师-学生隐式辨识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2747" y="3790950"/>
              <a:ext cx="135755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图 4 + 表 IV：更小差距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57200" y="4210050"/>
              <a:ext cx="59055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985" y="4356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最终</a:t>
              </a:r>
              <a:endParaRPr lang="zh-CN" sz="112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0842" y="4635500"/>
              <a:ext cx="2772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真机 3.9 / 3.4 m/s，5.7 rad/s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2747" y="491490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同一个策略、零样本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61404" y="14287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评述：区分论文自述与我的评价</a:t>
              </a:r>
              <a:endParaRPr lang="zh-CN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0" y="1866900"/>
              <a:ext cx="5067300" cy="3238500"/>
            </a:xfrm>
            <a:prstGeom prst="roundRect">
              <a:avLst>
                <a:gd name="adj" fmla="val 4118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90004" y="2038350"/>
              <a:ext cx="3123438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本文没有提出新的 RL 算法；</a:t>
              </a:r>
              <a:br>
                <a:rPr lang="zh-C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创新是问题建模 + 课程结构 + 训练范式组合。</a:t>
              </a:r>
              <a:endParaRPr lang="zh-CN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90385" y="2774950"/>
              <a:ext cx="3048254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Grid 课程的新颖不在“课程”，而在课程空间结构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与运动可行域结构匹配。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90385" y="3441700"/>
              <a:ext cx="1991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教师-学生的价值不在“模仿”，</a:t>
              </a:r>
              <a:b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而在用模仿逼</a:t>
              </a:r>
              <a:r>
                <a:rPr alt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近</a:t>
              </a:r>
              <a:r>
                <a:rPr lang="en-US" alt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隐</a:t>
              </a:r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式系统辨识。</a:t>
              </a:r>
              <a:endPara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7200" y="5334000"/>
              <a:ext cx="11277600" cy="647700"/>
            </a:xfrm>
            <a:prstGeom prst="roundRect">
              <a:avLst>
                <a:gd name="adj" fmla="val 17647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7042" y="5492750"/>
              <a:ext cx="60437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最终答案：同一个策略、零样本迁移，真机 3.9 / 3.4 m/s，5.7 rad/s。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8947" y="5772150"/>
              <a:ext cx="33476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核心问题被回答：宽速度范围 + 自然地形 + 端到端策略。</a:t>
              </a:r>
              <a:endPara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28" name="Line 28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29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44246" y="349250"/>
            <a:ext cx="2428875" cy="755650"/>
            <a:chOff x="444246" y="349250"/>
            <a:chExt cx="2428875" cy="755650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627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91B2"/>
                  </a:solidFill>
                  <a:latin typeface="+mn-lt"/>
                  <a:ea typeface="+mn-ea"/>
                  <a:cs typeface="+mn-cs"/>
                </a:rPr>
                <a:t>06 · 局限</a:t>
              </a:r>
              <a:endParaRPr lang="zh-CN" sz="1050" b="1" dirty="0">
                <a:solidFill>
                  <a:srgbClr val="0891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4246" y="57785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局限与未来方向</a:t>
              </a:r>
              <a:endParaRPr lang="zh-CN" sz="25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" y="10668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32" name="page-body"/>
          <p:cNvGrpSpPr/>
          <p:nvPr/>
        </p:nvGrpSpPr>
        <p:grpSpPr>
          <a:xfrm>
            <a:off x="457200" y="1524000"/>
            <a:ext cx="11277600" cy="4572000"/>
            <a:chOff x="457200" y="1524000"/>
            <a:chExt cx="11277600" cy="4572000"/>
          </a:xfrm>
        </p:grpSpPr>
        <p:sp>
          <p:nvSpPr>
            <p:cNvPr id="6" name="Rectangle 6"/>
            <p:cNvSpPr/>
            <p:nvPr/>
          </p:nvSpPr>
          <p:spPr>
            <a:xfrm>
              <a:off x="457200" y="1524000"/>
              <a:ext cx="5562600" cy="1181100"/>
            </a:xfrm>
            <a:prstGeom prst="roundRect">
              <a:avLst>
                <a:gd name="adj" fmla="val 14516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1797" y="16764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感知</a:t>
              </a:r>
              <a:endParaRPr lang="zh-CN" sz="98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59892" y="19113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仅本体感知、无视觉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225425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无法做上楼梯、避坑等需要提前规划的任务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172200" y="1524000"/>
              <a:ext cx="5562600" cy="1181100"/>
            </a:xfrm>
            <a:prstGeom prst="roundRect">
              <a:avLst>
                <a:gd name="adj" fmla="val 14516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76797" y="167640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任务范围</a:t>
              </a:r>
              <a:endParaRPr lang="zh-CN" sz="98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74892" y="19113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只控制地面平面机体速度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76416" y="2254250"/>
              <a:ext cx="2350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不含跳跃、下蹲、loco-manipulation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" y="2857500"/>
              <a:ext cx="5562600" cy="1181100"/>
            </a:xfrm>
            <a:prstGeom prst="roundRect">
              <a:avLst>
                <a:gd name="adj" fmla="val 14516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0099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实验严谨性</a:t>
              </a:r>
              <a:endParaRPr lang="zh-CN" sz="98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9892" y="32448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室外缺动捕，分析偏定性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416" y="3587750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高速跌倒 / 翻转难大量重复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172200" y="2857500"/>
              <a:ext cx="5562600" cy="1181100"/>
            </a:xfrm>
            <a:prstGeom prst="roundRect">
              <a:avLst>
                <a:gd name="adj" fmla="val 14516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30099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指标</a:t>
              </a:r>
              <a:endParaRPr lang="zh-CN" sz="98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4892" y="3244850"/>
              <a:ext cx="1979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Froude 数只归一化腿长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416" y="3587750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忽略电机强度、重量分布等硬件差异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7200" y="4191000"/>
              <a:ext cx="5562600" cy="1181100"/>
            </a:xfrm>
            <a:prstGeom prst="roundRect">
              <a:avLst>
                <a:gd name="adj" fmla="val 14516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1797" y="43434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机理</a:t>
              </a:r>
              <a:endParaRPr lang="zh-CN" sz="98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892" y="4578350"/>
              <a:ext cx="1895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sim-to-real 剩余差距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1416" y="492125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参数不准与仿真器缺失动力学的占比尚不确定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172200" y="4191000"/>
              <a:ext cx="5562600" cy="1181100"/>
            </a:xfrm>
            <a:prstGeom prst="roundRect">
              <a:avLst>
                <a:gd name="adj" fmla="val 14516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797" y="434340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目标定义</a:t>
              </a:r>
              <a:endParaRPr lang="zh-CN" sz="98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4892" y="45783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速度是定义不充分的目标</a:t>
              </a:r>
              <a:endParaRPr lang="zh-CN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416" y="49212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未考虑能耗、磨损、人类偏好</a:t>
              </a:r>
              <a:endPara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57200" y="5600700"/>
              <a:ext cx="11277600" cy="495300"/>
            </a:xfrm>
            <a:prstGeom prst="roundRect">
              <a:avLst>
                <a:gd name="adj" fmla="val 23077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7804" y="5772150"/>
              <a:ext cx="67732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C4A6E"/>
                  </a:solidFill>
                  <a:latin typeface="+mn-lt"/>
                  <a:ea typeface="+mn-ea"/>
                  <a:cs typeface="+mn-cs"/>
                </a:rPr>
                <a:t>未来方向：视觉 / 感知、跳跃与 loco-manipulation、能耗与人类偏好、sim-to-real 归因。</a:t>
              </a:r>
              <a:endParaRPr lang="zh-CN" sz="1200" b="1" dirty="0">
                <a:solidFill>
                  <a:srgbClr val="0C4A6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33" name="Line 33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30</a:t>
              </a:r>
              <a:endPara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hanks-title"/>
          <p:cNvGrpSpPr/>
          <p:nvPr/>
        </p:nvGrpSpPr>
        <p:grpSpPr>
          <a:xfrm>
            <a:off x="742950" y="1644650"/>
            <a:ext cx="1803959" cy="1651000"/>
            <a:chOff x="742950" y="1644650"/>
            <a:chExt cx="1803959" cy="1651000"/>
          </a:xfrm>
        </p:grpSpPr>
        <p:sp>
          <p:nvSpPr>
            <p:cNvPr id="2" name="TextBox 2"/>
            <p:cNvSpPr txBox="1"/>
            <p:nvPr/>
          </p:nvSpPr>
          <p:spPr>
            <a:xfrm>
              <a:off x="742950" y="1644650"/>
              <a:ext cx="165354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谢谢</a:t>
              </a:r>
              <a:endParaRPr lang="zh-CN" sz="60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2856" y="2736850"/>
              <a:ext cx="1794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B6D4"/>
                  </a:solidFill>
                  <a:latin typeface="+mn-lt"/>
                  <a:ea typeface="+mn-ea"/>
                  <a:cs typeface="+mn-cs"/>
                </a:rPr>
                <a:t>Q&amp;A · 欢迎讨论</a:t>
              </a:r>
              <a:endParaRPr lang="zh-CN" sz="1800" b="1" dirty="0">
                <a:solidFill>
                  <a:srgbClr val="06B6D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3238500"/>
              <a:ext cx="1143000" cy="5715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12" name="thanks-metrics"/>
          <p:cNvGrpSpPr/>
          <p:nvPr/>
        </p:nvGrpSpPr>
        <p:grpSpPr>
          <a:xfrm>
            <a:off x="748284" y="4432300"/>
            <a:ext cx="7272983" cy="675259"/>
            <a:chOff x="748284" y="4432300"/>
            <a:chExt cx="7272983" cy="675259"/>
          </a:xfrm>
        </p:grpSpPr>
        <p:sp>
          <p:nvSpPr>
            <p:cNvPr id="6" name="TextBox 6"/>
            <p:cNvSpPr txBox="1"/>
            <p:nvPr/>
          </p:nvSpPr>
          <p:spPr>
            <a:xfrm>
              <a:off x="748284" y="4432300"/>
              <a:ext cx="14776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3.9 m/s</a:t>
              </a:r>
              <a:endParaRPr lang="en-US" sz="27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6666" y="49022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室内最高持续速度</a:t>
              </a:r>
              <a:endPara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15284" y="4432300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5.7 rad/s</a:t>
              </a:r>
              <a:endParaRPr lang="en-US" sz="27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23666" y="49022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最大偏航角速度</a:t>
              </a:r>
              <a:endPara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63284" y="4432300"/>
              <a:ext cx="15579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Fr ≈ 5.1</a:t>
              </a:r>
              <a:endParaRPr lang="en-US" sz="27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71666" y="4902200"/>
              <a:ext cx="6656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Froude 数</a:t>
              </a:r>
              <a:endPara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page-footer"/>
          <p:cNvGrpSpPr/>
          <p:nvPr/>
        </p:nvGrpSpPr>
        <p:grpSpPr>
          <a:xfrm>
            <a:off x="452247" y="6343650"/>
            <a:ext cx="11282553" cy="305943"/>
            <a:chOff x="452247" y="6343650"/>
            <a:chExt cx="11282553" cy="305943"/>
          </a:xfrm>
        </p:grpSpPr>
        <p:sp>
          <p:nvSpPr>
            <p:cNvPr id="13" name="Line 13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2247" y="6457950"/>
              <a:ext cx="1787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Rapid Locomotion · 论文汇报</a:t>
              </a:r>
              <a:endPara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79927" y="645795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31</a:t>
              </a:r>
              <a:endPara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rapid_locomotion_report">
  <a:themeElements>
    <a:clrScheme name="rapid_locomotion_repor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apid_locomotion_report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apid_locomotion_repor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Arial</vt:lpstr>
      <vt:lpstr>宋体</vt:lpstr>
      <vt:lpstr>Wingdings</vt:lpstr>
      <vt:lpstr>Microsoft YaHei</vt:lpstr>
      <vt:lpstr>Calibri</vt:lpstr>
      <vt:lpstr>rapid_locomotion_report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iPad</dc:creator>
  <cp:lastModifiedBy>iPad</cp:lastModifiedBy>
  <cp:revision>1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7E5E7341C3B693AF5C70D86A38E15389_31</vt:lpwstr>
  </property>
  <property fmtid="{D5CDD505-2E9C-101B-9397-08002B2CF9AE}" pid="3" name="KSOProductBuildVer">
    <vt:lpwstr>2052-26.9.2</vt:lpwstr>
  </property>
</Properties>
</file>