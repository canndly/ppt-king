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8" r:id="rId11"/>
    <p:sldId id="269"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382" autoAdjust="0"/>
  </p:normalViewPr>
  <p:slideViewPr>
    <p:cSldViewPr snapToGrid="0">
      <p:cViewPr varScale="1">
        <p:scale>
          <a:sx n="99" d="100"/>
          <a:sy n="99" d="100"/>
        </p:scale>
        <p:origin x="7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CDA69D-71E3-41BF-8E00-1F352A4F219C}" type="datetimeFigureOut">
              <a:rPr lang="zh-CN" altLang="en-US" smtClean="0"/>
              <a:t>2026/7/1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725D8-6D11-4ECE-B319-878E2A52A2C5}" type="slidenum">
              <a:rPr lang="zh-CN" altLang="en-US" smtClean="0"/>
              <a:t>‹#›</a:t>
            </a:fld>
            <a:endParaRPr lang="zh-CN" altLang="en-US"/>
          </a:p>
        </p:txBody>
      </p:sp>
    </p:spTree>
    <p:extLst>
      <p:ext uri="{BB962C8B-B14F-4D97-AF65-F5344CB8AC3E}">
        <p14:creationId xmlns:p14="http://schemas.microsoft.com/office/powerpoint/2010/main" val="1436858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3C725D8-6D11-4ECE-B319-878E2A52A2C5}" type="slidenum">
              <a:rPr lang="zh-CN" altLang="en-US" smtClean="0"/>
              <a:t>6</a:t>
            </a:fld>
            <a:endParaRPr lang="zh-CN" altLang="en-US"/>
          </a:p>
        </p:txBody>
      </p:sp>
    </p:spTree>
    <p:extLst>
      <p:ext uri="{BB962C8B-B14F-4D97-AF65-F5344CB8AC3E}">
        <p14:creationId xmlns:p14="http://schemas.microsoft.com/office/powerpoint/2010/main" val="1257858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3C725D8-6D11-4ECE-B319-878E2A52A2C5}" type="slidenum">
              <a:rPr lang="zh-CN" altLang="en-US" smtClean="0"/>
              <a:t>9</a:t>
            </a:fld>
            <a:endParaRPr lang="zh-CN" altLang="en-US"/>
          </a:p>
        </p:txBody>
      </p:sp>
    </p:spTree>
    <p:extLst>
      <p:ext uri="{BB962C8B-B14F-4D97-AF65-F5344CB8AC3E}">
        <p14:creationId xmlns:p14="http://schemas.microsoft.com/office/powerpoint/2010/main" val="3861174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9460-4DCC-2B66-61F4-53B0BE161C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A78F25-DA54-0F19-C019-C28C10B6F5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6A493B-BAE1-51BC-BD96-C15892ED545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A68BB71-8E4A-0790-8BEF-CD05D6661340}"/>
              </a:ext>
            </a:extLst>
          </p:cNvPr>
          <p:cNvSpPr>
            <a:spLocks noGrp="1"/>
          </p:cNvSpPr>
          <p:nvPr>
            <p:ph type="sldNum" sz="quarter" idx="5"/>
          </p:nvPr>
        </p:nvSpPr>
        <p:spPr/>
        <p:txBody>
          <a:bodyPr/>
          <a:lstStyle/>
          <a:p>
            <a:fld id="{D3C725D8-6D11-4ECE-B319-878E2A52A2C5}" type="slidenum">
              <a:rPr lang="zh-CN" altLang="en-US" smtClean="0"/>
              <a:t>10</a:t>
            </a:fld>
            <a:endParaRPr lang="zh-CN" altLang="en-US"/>
          </a:p>
        </p:txBody>
      </p:sp>
    </p:spTree>
    <p:extLst>
      <p:ext uri="{BB962C8B-B14F-4D97-AF65-F5344CB8AC3E}">
        <p14:creationId xmlns:p14="http://schemas.microsoft.com/office/powerpoint/2010/main" val="4089430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08374-2AFB-F233-1C8F-E6B246FDBC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7E2F7B-1BFD-9AD6-CE3D-E62D1B6EE2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8649AF-5E26-C02F-B794-DDAA96D91FC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FB47E73-5752-000A-C8AF-CB34012D3874}"/>
              </a:ext>
            </a:extLst>
          </p:cNvPr>
          <p:cNvSpPr>
            <a:spLocks noGrp="1"/>
          </p:cNvSpPr>
          <p:nvPr>
            <p:ph type="sldNum" sz="quarter" idx="5"/>
          </p:nvPr>
        </p:nvSpPr>
        <p:spPr/>
        <p:txBody>
          <a:bodyPr/>
          <a:lstStyle/>
          <a:p>
            <a:fld id="{D3C725D8-6D11-4ECE-B319-878E2A52A2C5}" type="slidenum">
              <a:rPr lang="zh-CN" altLang="en-US" smtClean="0"/>
              <a:t>11</a:t>
            </a:fld>
            <a:endParaRPr lang="zh-CN" altLang="en-US"/>
          </a:p>
        </p:txBody>
      </p:sp>
    </p:spTree>
    <p:extLst>
      <p:ext uri="{BB962C8B-B14F-4D97-AF65-F5344CB8AC3E}">
        <p14:creationId xmlns:p14="http://schemas.microsoft.com/office/powerpoint/2010/main" val="1162966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3C725D8-6D11-4ECE-B319-878E2A52A2C5}" type="slidenum">
              <a:rPr lang="zh-CN" altLang="en-US" smtClean="0"/>
              <a:t>12</a:t>
            </a:fld>
            <a:endParaRPr lang="zh-CN" altLang="en-US"/>
          </a:p>
        </p:txBody>
      </p:sp>
    </p:spTree>
    <p:extLst>
      <p:ext uri="{BB962C8B-B14F-4D97-AF65-F5344CB8AC3E}">
        <p14:creationId xmlns:p14="http://schemas.microsoft.com/office/powerpoint/2010/main" val="2547365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78B70-3817-AB36-B060-4EA9C3F43E1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BE377EB-0DC7-F0CF-81A5-A49AD621B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A79A0A8-CE6D-D345-4F27-AEDA84B2E23E}"/>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A99B2ABA-7204-62A3-5C2E-804EC80CBF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249E90-BE8B-0B5A-614B-60BDA07A6544}"/>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403360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EA3E38-3EA0-E996-47FF-1FCDC7A858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F64165B-E0EE-4515-114F-FFCFB9E803F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79C26B-9BE4-D0AE-A79A-A7EAA08CCF9F}"/>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CBDA90EC-6812-09E8-941C-8D63B603C8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BD0B24-F5BF-60FD-7D46-401322172E45}"/>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359242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2FB32-1FF6-22DC-3BDE-6DEE6759C0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470D5A-5185-0D10-0A55-6EF7B3B9C4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592B066-56D9-CA9F-D1ED-F3EE696A9936}"/>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0B1C90F6-2BFA-B225-8F59-D95CC8FB5E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6FF2A9-CD8B-B9E4-1DEC-260C528D47C6}"/>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3786791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D7420E-2DDA-5A12-719C-C84CC6DDF4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222437-78C2-541B-1196-511E480CDFD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331514E-EACD-544A-3860-979D4BF4668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CDAB188-28DE-959C-5B4E-2EBEB4EF01D7}"/>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6" name="页脚占位符 5">
            <a:extLst>
              <a:ext uri="{FF2B5EF4-FFF2-40B4-BE49-F238E27FC236}">
                <a16:creationId xmlns:a16="http://schemas.microsoft.com/office/drawing/2014/main" id="{16D40E28-8B17-9F11-A8DB-6F4BEBEE473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AB20A8-E9DA-9F77-97BC-A6B0597344CB}"/>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1417200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3879B4-997F-5488-B966-020C8B0E2B6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B130507-9DCD-813D-44E5-151EEAF9DC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83AB6FC-0D31-7B32-1AF2-45AC76E4329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C490B29-5F87-289D-F4B5-9DBED7A59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19FD46-636B-CB77-8B68-14DF1269EE9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0DBC6C7-DA63-358D-2102-7A08B4C5091C}"/>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8" name="页脚占位符 7">
            <a:extLst>
              <a:ext uri="{FF2B5EF4-FFF2-40B4-BE49-F238E27FC236}">
                <a16:creationId xmlns:a16="http://schemas.microsoft.com/office/drawing/2014/main" id="{2BA7B079-FF7D-77BE-1F3B-EBAE69041E5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4316625-F945-AB26-C3B8-5CCEF2ABF3F9}"/>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1218032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962DE-BB6F-762E-A290-CF1BC03C456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270E1E-BFC7-C38E-A595-1354006F383C}"/>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4" name="页脚占位符 3">
            <a:extLst>
              <a:ext uri="{FF2B5EF4-FFF2-40B4-BE49-F238E27FC236}">
                <a16:creationId xmlns:a16="http://schemas.microsoft.com/office/drawing/2014/main" id="{B966871D-244E-B8CA-8E8D-D5A73B9A4CC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24F6B74-357A-B67E-09F7-A953F0CB43D2}"/>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240476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D39496-EA67-9001-235B-E1A159002DD8}"/>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3" name="页脚占位符 2">
            <a:extLst>
              <a:ext uri="{FF2B5EF4-FFF2-40B4-BE49-F238E27FC236}">
                <a16:creationId xmlns:a16="http://schemas.microsoft.com/office/drawing/2014/main" id="{DF06B626-C75A-240E-6BF2-D5D30D4BF72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5E22828-CA85-84D9-77E1-AE18B8648698}"/>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339075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B9013-8348-86D7-3361-94B1E87AC7A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D342593-DFEF-008C-6B90-6F2080966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EBA69D8-BDFD-8F52-75F6-678B7EB579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2A0031C-7AF3-9448-F08E-A7B10CA93C67}"/>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6" name="页脚占位符 5">
            <a:extLst>
              <a:ext uri="{FF2B5EF4-FFF2-40B4-BE49-F238E27FC236}">
                <a16:creationId xmlns:a16="http://schemas.microsoft.com/office/drawing/2014/main" id="{67D986CE-2FD9-2DB1-60A8-8C6D60F50AC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A17F3A-4D9C-7E6F-CDA9-6E4C4B46E733}"/>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3675572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59BCBA-9738-5242-21F6-C630633C090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B38A603-2903-1605-4745-354D0D5F31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EC1B485-2362-4868-4083-ECC1732B8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4AE032C-0C3A-CA6A-95A3-D3A396A97FE0}"/>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6" name="页脚占位符 5">
            <a:extLst>
              <a:ext uri="{FF2B5EF4-FFF2-40B4-BE49-F238E27FC236}">
                <a16:creationId xmlns:a16="http://schemas.microsoft.com/office/drawing/2014/main" id="{22B33A2C-F076-5558-6672-231F740EF1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D7F84E-C237-2BFF-0E86-BF593C6ACF24}"/>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1886323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76798D-97F8-F736-3A93-0A2145911E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BC0BDC-F61A-ABAB-545F-3733B42B2B0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4D65E0-8E2A-D180-F941-E1FB6BAA4959}"/>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CC0D465B-0497-F08E-17C4-847F921C042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1298E2C-8866-199D-A912-26E8FFA443E6}"/>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1889300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00168B6-B8E3-22CD-E321-0D3442BAFC6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201DB85-80B2-4EA0-788C-7372E20460D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DE89CA-26D6-9C81-47E0-9B2360C558F0}"/>
              </a:ext>
            </a:extLst>
          </p:cNvPr>
          <p:cNvSpPr>
            <a:spLocks noGrp="1"/>
          </p:cNvSpPr>
          <p:nvPr>
            <p:ph type="dt" sz="half" idx="10"/>
          </p:nvPr>
        </p:nvSpPr>
        <p:spPr/>
        <p:txBody>
          <a:body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46F1468D-49EB-0207-1F1F-600D3E271E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8C18E1-9AC8-7C34-21AC-423B75045864}"/>
              </a:ext>
            </a:extLst>
          </p:cNvPr>
          <p:cNvSpPr>
            <a:spLocks noGrp="1"/>
          </p:cNvSpPr>
          <p:nvPr>
            <p:ph type="sldNum" sz="quarter" idx="12"/>
          </p:nvPr>
        </p:nvSpPr>
        <p:spPr/>
        <p:txBody>
          <a:body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1719179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8971883-B5F1-0286-8050-F26531F901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E3BC58-D32B-B8D4-FBB2-C52AC68108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E90723-209B-AF6E-8776-22F0455E6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0419B-FBAE-4182-8C2F-DD25EC8C89A7}" type="datetimeFigureOut">
              <a:rPr lang="zh-CN" altLang="en-US" smtClean="0"/>
              <a:t>2026/7/1</a:t>
            </a:fld>
            <a:endParaRPr lang="zh-CN" altLang="en-US"/>
          </a:p>
        </p:txBody>
      </p:sp>
      <p:sp>
        <p:nvSpPr>
          <p:cNvPr id="5" name="页脚占位符 4">
            <a:extLst>
              <a:ext uri="{FF2B5EF4-FFF2-40B4-BE49-F238E27FC236}">
                <a16:creationId xmlns:a16="http://schemas.microsoft.com/office/drawing/2014/main" id="{E928ACEE-A027-A2E2-9EBB-072D35CF86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4A1CDEA-C00D-D507-748B-414B0A0839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3B6E26-BE17-4895-A08A-140CA28132C0}" type="slidenum">
              <a:rPr lang="zh-CN" altLang="en-US" smtClean="0"/>
              <a:t>‹#›</a:t>
            </a:fld>
            <a:endParaRPr lang="zh-CN" altLang="en-US"/>
          </a:p>
        </p:txBody>
      </p:sp>
    </p:spTree>
    <p:extLst>
      <p:ext uri="{BB962C8B-B14F-4D97-AF65-F5344CB8AC3E}">
        <p14:creationId xmlns:p14="http://schemas.microsoft.com/office/powerpoint/2010/main" val="2900288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96BD5F-C338-1E29-0341-EDCC0ABDD99C}"/>
              </a:ext>
            </a:extLst>
          </p:cNvPr>
          <p:cNvSpPr>
            <a:spLocks noGrp="1"/>
          </p:cNvSpPr>
          <p:nvPr>
            <p:ph type="title"/>
          </p:nvPr>
        </p:nvSpPr>
        <p:spPr>
          <a:xfrm>
            <a:off x="2538212" y="2868051"/>
            <a:ext cx="10515600" cy="1325563"/>
          </a:xfrm>
        </p:spPr>
        <p:txBody>
          <a:bodyPr/>
          <a:lstStyle/>
          <a:p>
            <a:r>
              <a:rPr lang="zh-CN" altLang="en-US" b="1" dirty="0"/>
              <a:t>电力电子课程设计报告</a:t>
            </a:r>
          </a:p>
        </p:txBody>
      </p:sp>
      <p:sp>
        <p:nvSpPr>
          <p:cNvPr id="3" name="内容占位符 2">
            <a:extLst>
              <a:ext uri="{FF2B5EF4-FFF2-40B4-BE49-F238E27FC236}">
                <a16:creationId xmlns:a16="http://schemas.microsoft.com/office/drawing/2014/main" id="{40EA5769-83BD-6244-02B3-9669966648E3}"/>
              </a:ext>
            </a:extLst>
          </p:cNvPr>
          <p:cNvSpPr>
            <a:spLocks noGrp="1"/>
          </p:cNvSpPr>
          <p:nvPr>
            <p:ph idx="1"/>
          </p:nvPr>
        </p:nvSpPr>
        <p:spPr>
          <a:xfrm>
            <a:off x="3252990" y="4116727"/>
            <a:ext cx="4822065" cy="679316"/>
          </a:xfrm>
        </p:spPr>
        <p:txBody>
          <a:bodyPr>
            <a:normAutofit fontScale="92500" lnSpcReduction="20000"/>
          </a:bodyPr>
          <a:lstStyle/>
          <a:p>
            <a:pPr marL="0" indent="0">
              <a:buNone/>
            </a:pPr>
            <a:r>
              <a:rPr lang="en-US" altLang="zh-CN" b="1" dirty="0" err="1"/>
              <a:t>基于</a:t>
            </a:r>
            <a:r>
              <a:rPr lang="en-US" altLang="zh-CN" b="1" dirty="0"/>
              <a:t> LM5180 </a:t>
            </a:r>
            <a:r>
              <a:rPr lang="en-US" altLang="zh-CN" b="1" dirty="0" err="1"/>
              <a:t>的反激电路设计</a:t>
            </a:r>
            <a:br>
              <a:rPr lang="en-US" altLang="zh-CN" dirty="0"/>
            </a:br>
            <a:endParaRPr lang="zh-CN" altLang="en-US" dirty="0"/>
          </a:p>
        </p:txBody>
      </p:sp>
      <p:pic>
        <p:nvPicPr>
          <p:cNvPr id="5" name="图片 4">
            <a:extLst>
              <a:ext uri="{FF2B5EF4-FFF2-40B4-BE49-F238E27FC236}">
                <a16:creationId xmlns:a16="http://schemas.microsoft.com/office/drawing/2014/main" id="{0FA09A33-F1EA-289B-7D0C-BBCA47871C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378" y="261949"/>
            <a:ext cx="9703790" cy="2821920"/>
          </a:xfrm>
          <a:prstGeom prst="rect">
            <a:avLst/>
          </a:prstGeom>
        </p:spPr>
      </p:pic>
      <p:sp>
        <p:nvSpPr>
          <p:cNvPr id="6" name="文本框 5">
            <a:extLst>
              <a:ext uri="{FF2B5EF4-FFF2-40B4-BE49-F238E27FC236}">
                <a16:creationId xmlns:a16="http://schemas.microsoft.com/office/drawing/2014/main" id="{A8405D3D-3885-CDEB-9175-C8C6F2ABDDBF}"/>
              </a:ext>
            </a:extLst>
          </p:cNvPr>
          <p:cNvSpPr txBox="1"/>
          <p:nvPr/>
        </p:nvSpPr>
        <p:spPr>
          <a:xfrm>
            <a:off x="7868992" y="5176028"/>
            <a:ext cx="4211391" cy="1200329"/>
          </a:xfrm>
          <a:prstGeom prst="rect">
            <a:avLst/>
          </a:prstGeom>
          <a:noFill/>
        </p:spPr>
        <p:txBody>
          <a:bodyPr wrap="square" rtlCol="0">
            <a:spAutoFit/>
          </a:bodyPr>
          <a:lstStyle/>
          <a:p>
            <a:r>
              <a:rPr lang="zh-CN" altLang="en-US" sz="2400" dirty="0"/>
              <a:t>指导老师：郑峰</a:t>
            </a:r>
            <a:endParaRPr lang="en-US" altLang="zh-CN" sz="2400" dirty="0"/>
          </a:p>
          <a:p>
            <a:r>
              <a:rPr lang="zh-CN" altLang="en-US" sz="2400" dirty="0"/>
              <a:t>姓名：李泽海 </a:t>
            </a:r>
            <a:endParaRPr lang="en-US" altLang="zh-CN" sz="2400" dirty="0"/>
          </a:p>
          <a:p>
            <a:r>
              <a:rPr lang="zh-CN" altLang="en-US" sz="2400" dirty="0"/>
              <a:t>学号：</a:t>
            </a:r>
            <a:r>
              <a:rPr lang="en-US" altLang="zh-CN" sz="2400" dirty="0"/>
              <a:t>23049200020</a:t>
            </a:r>
            <a:endParaRPr lang="zh-CN" altLang="en-US" sz="2400" dirty="0"/>
          </a:p>
        </p:txBody>
      </p:sp>
    </p:spTree>
    <p:extLst>
      <p:ext uri="{BB962C8B-B14F-4D97-AF65-F5344CB8AC3E}">
        <p14:creationId xmlns:p14="http://schemas.microsoft.com/office/powerpoint/2010/main" val="142345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C4F27BC-03F3-60F8-23EC-0746312C9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9" name="文本框 8">
            <a:extLst>
              <a:ext uri="{FF2B5EF4-FFF2-40B4-BE49-F238E27FC236}">
                <a16:creationId xmlns:a16="http://schemas.microsoft.com/office/drawing/2014/main" id="{5D695514-22E1-16DC-3CCD-C7DBA774092E}"/>
              </a:ext>
            </a:extLst>
          </p:cNvPr>
          <p:cNvSpPr txBox="1"/>
          <p:nvPr/>
        </p:nvSpPr>
        <p:spPr>
          <a:xfrm>
            <a:off x="148976" y="1313078"/>
            <a:ext cx="3573887" cy="584775"/>
          </a:xfrm>
          <a:prstGeom prst="rect">
            <a:avLst/>
          </a:prstGeom>
          <a:noFill/>
        </p:spPr>
        <p:txBody>
          <a:bodyPr wrap="square" rtlCol="0">
            <a:spAutoFit/>
          </a:bodyPr>
          <a:lstStyle/>
          <a:p>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一，题目解析</a:t>
            </a:r>
          </a:p>
        </p:txBody>
      </p:sp>
      <p:sp>
        <p:nvSpPr>
          <p:cNvPr id="10" name="文本框 9">
            <a:extLst>
              <a:ext uri="{FF2B5EF4-FFF2-40B4-BE49-F238E27FC236}">
                <a16:creationId xmlns:a16="http://schemas.microsoft.com/office/drawing/2014/main" id="{4CD293BB-4B1D-CDBF-63F3-CFC7E5DCF177}"/>
              </a:ext>
            </a:extLst>
          </p:cNvPr>
          <p:cNvSpPr txBox="1"/>
          <p:nvPr/>
        </p:nvSpPr>
        <p:spPr>
          <a:xfrm>
            <a:off x="218941" y="2228671"/>
            <a:ext cx="5306096" cy="3693319"/>
          </a:xfrm>
          <a:prstGeom prst="rect">
            <a:avLst/>
          </a:prstGeom>
          <a:noFill/>
        </p:spPr>
        <p:txBody>
          <a:bodyPr wrap="square" rtlCol="0">
            <a:spAutoFit/>
          </a:bodyPr>
          <a:lstStyle/>
          <a:p>
            <a:r>
              <a:rPr lang="en-US" altLang="zh-CN" sz="2400" dirty="0"/>
              <a:t>       </a:t>
            </a:r>
            <a:r>
              <a:rPr lang="zh-CN" altLang="zh-CN" sz="2400" dirty="0"/>
              <a:t>本设计要求基于具有</a:t>
            </a:r>
            <a:r>
              <a:rPr lang="en-US" altLang="zh-CN" sz="2400" dirty="0"/>
              <a:t> 100 V</a:t>
            </a:r>
            <a:r>
              <a:rPr lang="zh-CN" altLang="zh-CN" sz="2400" dirty="0"/>
              <a:t>、</a:t>
            </a:r>
            <a:r>
              <a:rPr lang="en-US" altLang="zh-CN" sz="2400" dirty="0"/>
              <a:t>1.5 A </a:t>
            </a:r>
            <a:r>
              <a:rPr lang="zh-CN" altLang="zh-CN" sz="2400" dirty="0"/>
              <a:t>集成功率</a:t>
            </a:r>
            <a:r>
              <a:rPr lang="en-US" altLang="zh-CN" sz="2400" dirty="0"/>
              <a:t> MOSFET </a:t>
            </a:r>
            <a:r>
              <a:rPr lang="zh-CN" altLang="zh-CN" sz="2400" dirty="0"/>
              <a:t>的</a:t>
            </a:r>
            <a:r>
              <a:rPr lang="en-US" altLang="zh-CN" sz="2400" dirty="0"/>
              <a:t> LM5180 </a:t>
            </a:r>
            <a:r>
              <a:rPr lang="zh-CN" altLang="zh-CN" sz="2400" dirty="0"/>
              <a:t>反激式</a:t>
            </a:r>
            <a:r>
              <a:rPr lang="en-US" altLang="zh-CN" sz="2400" dirty="0"/>
              <a:t> DC/DC </a:t>
            </a:r>
            <a:r>
              <a:rPr lang="zh-CN" altLang="zh-CN" sz="2400" dirty="0"/>
              <a:t>转换器</a:t>
            </a:r>
            <a:endParaRPr lang="en-US" altLang="zh-CN" sz="2400" dirty="0"/>
          </a:p>
          <a:p>
            <a:r>
              <a:rPr lang="zh-CN" altLang="zh-CN" sz="2400" dirty="0"/>
              <a:t>，设计一个输入为</a:t>
            </a:r>
            <a:r>
              <a:rPr lang="en-US" altLang="zh-CN" sz="2400" dirty="0"/>
              <a:t> 24 V</a:t>
            </a:r>
            <a:r>
              <a:rPr lang="zh-CN" altLang="zh-CN" sz="2400" dirty="0"/>
              <a:t>、输出为</a:t>
            </a:r>
            <a:r>
              <a:rPr lang="en-US" altLang="zh-CN" sz="2400" dirty="0"/>
              <a:t> 5 V/1 A </a:t>
            </a:r>
            <a:r>
              <a:rPr lang="zh-CN" altLang="zh-CN" sz="2400" dirty="0"/>
              <a:t>的隔离型电源系统</a:t>
            </a:r>
            <a:r>
              <a:rPr lang="zh-CN" altLang="en-US" sz="2400" dirty="0"/>
              <a:t>，罗列成右侧表格。</a:t>
            </a:r>
            <a:endParaRPr lang="en-US" altLang="zh-CN" sz="2400" dirty="0"/>
          </a:p>
          <a:p>
            <a:r>
              <a:rPr lang="en-US" altLang="zh-CN" sz="2400" dirty="0"/>
              <a:t>        </a:t>
            </a:r>
            <a:r>
              <a:rPr lang="zh-CN" altLang="zh-CN" sz="2400" dirty="0"/>
              <a:t>反激</a:t>
            </a:r>
            <a:r>
              <a:rPr lang="zh-CN" altLang="en-US" sz="2400" dirty="0"/>
              <a:t>电路适合</a:t>
            </a:r>
            <a:r>
              <a:rPr lang="zh-CN" altLang="zh-CN" sz="2400" dirty="0"/>
              <a:t>中小功率隔离电源场合，在控制器、辅助电源和工业模块供电中应用广泛。</a:t>
            </a:r>
          </a:p>
          <a:p>
            <a:pPr algn="r"/>
            <a:endParaRPr lang="zh-CN" altLang="en-US" dirty="0"/>
          </a:p>
        </p:txBody>
      </p:sp>
      <p:pic>
        <p:nvPicPr>
          <p:cNvPr id="13" name="图片 12">
            <a:extLst>
              <a:ext uri="{FF2B5EF4-FFF2-40B4-BE49-F238E27FC236}">
                <a16:creationId xmlns:a16="http://schemas.microsoft.com/office/drawing/2014/main" id="{9550A7E2-0734-2A52-082F-1C82F3C0403E}"/>
              </a:ext>
            </a:extLst>
          </p:cNvPr>
          <p:cNvPicPr>
            <a:picLocks noChangeAspect="1"/>
          </p:cNvPicPr>
          <p:nvPr/>
        </p:nvPicPr>
        <p:blipFill>
          <a:blip r:embed="rId3"/>
          <a:srcRect r="-24922"/>
          <a:stretch>
            <a:fillRect/>
          </a:stretch>
        </p:blipFill>
        <p:spPr>
          <a:xfrm>
            <a:off x="5724659" y="2074783"/>
            <a:ext cx="8079126" cy="3530889"/>
          </a:xfrm>
          <a:prstGeom prst="rect">
            <a:avLst/>
          </a:prstGeom>
        </p:spPr>
      </p:pic>
    </p:spTree>
    <p:extLst>
      <p:ext uri="{BB962C8B-B14F-4D97-AF65-F5344CB8AC3E}">
        <p14:creationId xmlns:p14="http://schemas.microsoft.com/office/powerpoint/2010/main" val="1438430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DE3AE-8892-FC81-CDC3-9D5068BD313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5B34ADE6-8621-4056-D7E1-43A558CCA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8970168-F27A-FB33-7A3F-032DC4650396}"/>
                  </a:ext>
                </a:extLst>
              </p:cNvPr>
              <p:cNvSpPr txBox="1"/>
              <p:nvPr/>
            </p:nvSpPr>
            <p:spPr>
              <a:xfrm>
                <a:off x="109799" y="1253811"/>
                <a:ext cx="5181868" cy="5152244"/>
              </a:xfrm>
              <a:prstGeom prst="rect">
                <a:avLst/>
              </a:prstGeom>
              <a:noFill/>
            </p:spPr>
            <p:txBody>
              <a:bodyPr wrap="square">
                <a:spAutoFit/>
              </a:bodyPr>
              <a:lstStyle/>
              <a:p>
                <a:pPr>
                  <a:lnSpc>
                    <a:spcPct val="150000"/>
                  </a:lnSpc>
                  <a:spcBef>
                    <a:spcPts val="1500"/>
                  </a:spcBef>
                  <a:buNone/>
                </a:pPr>
                <a:r>
                  <a:rPr lang="zh-CN" altLang="zh-CN" sz="2800" b="1" dirty="0">
                    <a:effectLst/>
                    <a:latin typeface="Times New Roman" panose="02020603050405020304" pitchFamily="18" charset="0"/>
                    <a:ea typeface="黑体" panose="02010609060101010101" pitchFamily="49" charset="-122"/>
                    <a:cs typeface="Times New Roman" panose="02020603050405020304" pitchFamily="18" charset="0"/>
                  </a:rPr>
                  <a:t>二、原理分析</a:t>
                </a:r>
              </a:p>
              <a:p>
                <a:r>
                  <a:rPr lang="zh-CN" altLang="zh-CN" dirty="0"/>
                  <a:t>反激电路工作原理简述如下：</a:t>
                </a:r>
              </a:p>
              <a:p>
                <a:r>
                  <a:rPr lang="zh-CN" altLang="zh-CN" b="1" dirty="0"/>
                  <a:t>工作过程：</a:t>
                </a:r>
                <a:endParaRPr lang="zh-CN" altLang="zh-CN" dirty="0"/>
              </a:p>
              <a:p>
                <a:r>
                  <a:rPr lang="zh-CN" altLang="zh-CN" b="1" dirty="0"/>
                  <a:t>MOSFET导通时</a:t>
                </a:r>
                <a:r>
                  <a:rPr lang="zh-CN" altLang="zh-CN" dirty="0"/>
                  <a:t>：原边绕组承受输入电压，副边二极管反偏截止，输入能量暂存于变压器励磁电感中，励磁电流线性上升。</a:t>
                </a:r>
              </a:p>
              <a:p>
                <a:r>
                  <a:rPr lang="zh-CN" altLang="zh-CN" b="1" dirty="0"/>
                  <a:t>MOSFET关断时</a:t>
                </a:r>
                <a:r>
                  <a:rPr lang="zh-CN" altLang="zh-CN" dirty="0"/>
                  <a:t>：原边电流切断，变压器极性翻转，副边二极管正偏导通，励磁电感存储的能量经副边绕组传递至输出端。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在连续导通模式下，根据变压器励磁电感的伏秒平衡可得：</a:t>
                </a:r>
              </a:p>
              <a:p>
                <a:pPr indent="304800">
                  <a:lnSpc>
                    <a:spcPct val="150000"/>
                  </a:lnSpc>
                  <a:spcBef>
                    <a:spcPts val="900"/>
                  </a:spcBef>
                  <a:buNone/>
                </a:pPr>
                <a14:m>
                  <m:oMathPara xmlns:m="http://schemas.openxmlformats.org/officeDocument/2006/math">
                    <m:oMath>
                      <m:nary>
                        <m:naryPr>
                          <m:limLoc m:val="subSup"/>
                          <m:ctrlP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ctrlPr>
                        </m:naryPr>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0</m:t>
                          </m:r>
                        </m:sub>
                        <m:sup>
                          <m:sSub>
                            <m:sSubPr>
                              <m:ctrlP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𝑇</m:t>
                              </m:r>
                            </m:e>
                            <m:sub>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𝑠</m:t>
                              </m:r>
                            </m:sub>
                          </m:sSub>
                        </m:sup>
                        <m:e>
                          <m:sSub>
                            <m:sSubPr>
                              <m:ctrlP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𝑢</m:t>
                              </m:r>
                            </m:e>
                            <m:sub>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𝐿</m:t>
                              </m:r>
                            </m:sub>
                          </m:sSub>
                        </m:e>
                      </m:nary>
                      <m:r>
                        <a:rPr lang="en-US" altLang="zh-CN" sz="1800">
                          <a:effectLst/>
                          <a:latin typeface="Cambria Math" panose="02040503050406030204" pitchFamily="18" charset="0"/>
                          <a:ea typeface="宋体" panose="02010600030101010101" pitchFamily="2" charset="-122"/>
                          <a:cs typeface="Times New Roman" panose="02020603050405020304" pitchFamily="18" charset="0"/>
                        </a:rPr>
                        <m:t>(</m:t>
                      </m:r>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a:effectLst/>
                          <a:latin typeface="Cambria Math" panose="02040503050406030204" pitchFamily="18" charset="0"/>
                          <a:ea typeface="宋体" panose="02010600030101010101" pitchFamily="2" charset="-122"/>
                          <a:cs typeface="Times New Roman" panose="02020603050405020304" pitchFamily="18" charset="0"/>
                        </a:rPr>
                        <m:t>)</m:t>
                      </m:r>
                      <m:r>
                        <a:rPr lang="zh-CN" altLang="en-US" sz="1800" i="1">
                          <a:effectLst/>
                          <a:latin typeface="Cambria Math" panose="02040503050406030204" pitchFamily="18" charset="0"/>
                          <a:ea typeface="宋体" panose="02010600030101010101" pitchFamily="2" charset="-122"/>
                          <a:cs typeface="Times New Roman" panose="02020603050405020304" pitchFamily="18" charset="0"/>
                        </a:rPr>
                        <m:t>𝑑𝑡</m:t>
                      </m:r>
                      <m:r>
                        <a:rPr lang="en-US" altLang="zh-CN" sz="1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0</m:t>
                      </m:r>
                    </m:oMath>
                  </m:oMathPara>
                </a14:m>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导通期间原边励磁电感电压为输入电压，关断期间副</a:t>
                </a:r>
              </a:p>
            </p:txBody>
          </p:sp>
        </mc:Choice>
        <mc:Fallback xmlns="">
          <p:sp>
            <p:nvSpPr>
              <p:cNvPr id="3" name="文本框 2">
                <a:extLst>
                  <a:ext uri="{FF2B5EF4-FFF2-40B4-BE49-F238E27FC236}">
                    <a16:creationId xmlns:a16="http://schemas.microsoft.com/office/drawing/2014/main" id="{C8970168-F27A-FB33-7A3F-032DC4650396}"/>
                  </a:ext>
                </a:extLst>
              </p:cNvPr>
              <p:cNvSpPr txBox="1">
                <a:spLocks noRot="1" noChangeAspect="1" noMove="1" noResize="1" noEditPoints="1" noAdjustHandles="1" noChangeArrowheads="1" noChangeShapeType="1" noTextEdit="1"/>
              </p:cNvSpPr>
              <p:nvPr/>
            </p:nvSpPr>
            <p:spPr>
              <a:xfrm>
                <a:off x="109799" y="1253811"/>
                <a:ext cx="5181868" cy="5152244"/>
              </a:xfrm>
              <a:prstGeom prst="rect">
                <a:avLst/>
              </a:prstGeom>
              <a:blipFill>
                <a:blip r:embed="rId3"/>
                <a:stretch>
                  <a:fillRect l="-2353" r="-51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C18D3A2-5632-35BC-211C-147800D839AD}"/>
                  </a:ext>
                </a:extLst>
              </p:cNvPr>
              <p:cNvSpPr txBox="1"/>
              <p:nvPr/>
            </p:nvSpPr>
            <p:spPr>
              <a:xfrm>
                <a:off x="5291667" y="3606801"/>
                <a:ext cx="6724918" cy="3009670"/>
              </a:xfrm>
              <a:prstGeom prst="rect">
                <a:avLst/>
              </a:prstGeom>
              <a:noFill/>
            </p:spPr>
            <p:txBody>
              <a:bodyPr wrap="none" rtlCol="0">
                <a:spAutoFit/>
              </a:bodyPr>
              <a:lstStyle/>
              <a:p>
                <a:pPr indent="304800">
                  <a:lnSpc>
                    <a:spcPct val="150000"/>
                  </a:lnSpc>
                  <a:spcBef>
                    <a:spcPts val="900"/>
                  </a:spcBef>
                  <a:buNone/>
                </a:pPr>
                <a:r>
                  <a:rPr lang="zh-CN" altLang="zh-CN" dirty="0">
                    <a:latin typeface="Times New Roman" panose="02020603050405020304" pitchFamily="18" charset="0"/>
                    <a:ea typeface="宋体" panose="02010600030101010101" pitchFamily="2" charset="-122"/>
                    <a:cs typeface="Times New Roman" panose="02020603050405020304" pitchFamily="18" charset="0"/>
                  </a:rPr>
                  <a:t>边反射到原边的电压与输出电压和匝比有关，因此有：</a:t>
                </a:r>
              </a:p>
              <a:p>
                <a:pPr indent="304800">
                  <a:lnSpc>
                    <a:spcPct val="150000"/>
                  </a:lnSpc>
                  <a:spcBef>
                    <a:spcPts val="900"/>
                  </a:spcBef>
                  <a:buNone/>
                </a:pPr>
                <a14:m>
                  <m:oMathPara xmlns:m="http://schemas.openxmlformats.org/officeDocument/2006/math">
                    <m:oMath>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𝑇</m:t>
                          </m:r>
                        </m:e>
                        <m:sub>
                          <m:r>
                            <a:rPr lang="zh-CN" altLang="en-US" i="1">
                              <a:latin typeface="Cambria Math" panose="02040503050406030204" pitchFamily="18" charset="0"/>
                              <a:ea typeface="宋体" panose="02010600030101010101" pitchFamily="2" charset="-122"/>
                              <a:cs typeface="Times New Roman" panose="02020603050405020304" pitchFamily="18" charset="0"/>
                            </a:rPr>
                            <m:t>𝑜𝑛</m:t>
                          </m:r>
                        </m:sub>
                      </m:sSub>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𝑈</m:t>
                          </m:r>
                        </m:e>
                        <m:sub>
                          <m:r>
                            <a:rPr lang="zh-CN" altLang="en-US" i="1">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𝑇</m:t>
                          </m:r>
                        </m:e>
                        <m:sub>
                          <m:r>
                            <a:rPr lang="zh-CN" altLang="en-US" i="1">
                              <a:latin typeface="Cambria Math" panose="02040503050406030204" pitchFamily="18" charset="0"/>
                              <a:ea typeface="宋体" panose="02010600030101010101" pitchFamily="2" charset="-122"/>
                              <a:cs typeface="Times New Roman" panose="02020603050405020304" pitchFamily="18" charset="0"/>
                            </a:rPr>
                            <m:t>𝑜𝑓𝑓</m:t>
                          </m:r>
                        </m:sub>
                      </m:sSub>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𝑈</m:t>
                          </m:r>
                        </m:e>
                        <m:sub>
                          <m:r>
                            <a:rPr lang="zh-CN" altLang="en-US" i="1">
                              <a:latin typeface="Cambria Math" panose="02040503050406030204" pitchFamily="18" charset="0"/>
                              <a:ea typeface="宋体" panose="02010600030101010101" pitchFamily="2" charset="-122"/>
                              <a:cs typeface="Times New Roman" panose="02020603050405020304" pitchFamily="18" charset="0"/>
                            </a:rPr>
                            <m:t>𝑜</m:t>
                          </m:r>
                        </m:sub>
                      </m:sSub>
                      <m:f>
                        <m:f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Sub>
                        </m:num>
                        <m:den>
                          <m:sSub>
                            <m:sSubPr>
                              <m:ctrlPr>
                                <a:rPr lang="zh-CN" altLang="en-US" i="1">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i="1">
                                  <a:latin typeface="Cambria Math" panose="02040503050406030204" pitchFamily="18" charset="0"/>
                                  <a:ea typeface="宋体" panose="02010600030101010101" pitchFamily="2" charset="-122"/>
                                  <a:cs typeface="Times New Roman" panose="02020603050405020304" pitchFamily="18" charset="0"/>
                                </a:rPr>
                                <m:t>2</m:t>
                              </m:r>
                            </m:sub>
                          </m:sSub>
                        </m:den>
                      </m:f>
                    </m:oMath>
                  </m:oMathPara>
                </a14:m>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zh-CN" dirty="0">
                    <a:latin typeface="Times New Roman" panose="02020603050405020304" pitchFamily="18" charset="0"/>
                    <a:ea typeface="宋体" panose="02010600030101010101" pitchFamily="2" charset="-122"/>
                    <a:cs typeface="Times New Roman" panose="02020603050405020304" pitchFamily="18" charset="0"/>
                  </a:rPr>
                  <a:t>进一步可得输出电压与输入电压、占空比和匝比之间的关系：</a:t>
                </a:r>
              </a:p>
              <a:p>
                <a:pPr indent="304800">
                  <a:lnSpc>
                    <a:spcPct val="150000"/>
                  </a:lnSpc>
                  <a:spcBef>
                    <a:spcPts val="900"/>
                  </a:spcBef>
                  <a:buNone/>
                </a:pPr>
                <a14:m>
                  <m:oMathPara xmlns:m="http://schemas.openxmlformats.org/officeDocument/2006/math">
                    <m:oMath>
                      <m:f>
                        <m:f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𝑈</m:t>
                              </m:r>
                            </m:e>
                            <m:sub>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𝑜</m:t>
                              </m:r>
                            </m:sub>
                          </m:sSub>
                        </m:num>
                        <m:den>
                          <m:sSub>
                            <m:sSub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𝑈</m:t>
                              </m:r>
                            </m:e>
                            <m:sub>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𝑖</m:t>
                              </m:r>
                            </m:sub>
                          </m:sSub>
                        </m:den>
                      </m:f>
                      <m:r>
                        <a:rPr lang="en-US" altLang="zh-CN">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i="1">
                                  <a:solidFill>
                                    <a:srgbClr val="FF0000"/>
                                  </a:solidFill>
                                  <a:latin typeface="Cambria Math" panose="02040503050406030204" pitchFamily="18" charset="0"/>
                                  <a:ea typeface="宋体" panose="02010600030101010101" pitchFamily="2" charset="-122"/>
                                  <a:cs typeface="Times New Roman" panose="02020603050405020304" pitchFamily="18" charset="0"/>
                                </a:rPr>
                                <m:t>2</m:t>
                              </m:r>
                            </m:sub>
                          </m:sSub>
                        </m:num>
                        <m:den>
                          <m:sSub>
                            <m:sSub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i="1">
                                  <a:solidFill>
                                    <a:srgbClr val="FF0000"/>
                                  </a:solidFill>
                                  <a:latin typeface="Cambria Math" panose="02040503050406030204" pitchFamily="18" charset="0"/>
                                  <a:ea typeface="宋体" panose="02010600030101010101" pitchFamily="2" charset="-122"/>
                                  <a:cs typeface="Times New Roman" panose="02020603050405020304" pitchFamily="18" charset="0"/>
                                </a:rPr>
                                <m:t>1</m:t>
                              </m:r>
                            </m:sub>
                          </m:sSub>
                        </m:den>
                      </m:f>
                      <m:r>
                        <a:rPr lang="zh-CN" altLang="en-US">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𝐷</m:t>
                          </m:r>
                        </m:num>
                        <m:den>
                          <m:r>
                            <a:rPr lang="en-US" altLang="zh-CN" i="1">
                              <a:solidFill>
                                <a:srgbClr val="FF0000"/>
                              </a:solidFill>
                              <a:latin typeface="Cambria Math" panose="02040503050406030204" pitchFamily="18" charset="0"/>
                              <a:ea typeface="宋体" panose="02010600030101010101" pitchFamily="2" charset="-122"/>
                              <a:cs typeface="Times New Roman" panose="02020603050405020304" pitchFamily="18" charset="0"/>
                            </a:rPr>
                            <m:t>1</m:t>
                          </m:r>
                          <m:r>
                            <a:rPr lang="zh-CN" altLang="en-US">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zh-CN" altLang="en-US"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𝐷</m:t>
                          </m:r>
                        </m:den>
                      </m:f>
                    </m:oMath>
                  </m:oMathPara>
                </a14:m>
                <a:endParaRPr lang="zh-CN"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mc:Choice>
        <mc:Fallback xmlns="">
          <p:sp>
            <p:nvSpPr>
              <p:cNvPr id="4" name="文本框 3">
                <a:extLst>
                  <a:ext uri="{FF2B5EF4-FFF2-40B4-BE49-F238E27FC236}">
                    <a16:creationId xmlns:a16="http://schemas.microsoft.com/office/drawing/2014/main" id="{6C18D3A2-5632-35BC-211C-147800D839AD}"/>
                  </a:ext>
                </a:extLst>
              </p:cNvPr>
              <p:cNvSpPr txBox="1">
                <a:spLocks noRot="1" noChangeAspect="1" noMove="1" noResize="1" noEditPoints="1" noAdjustHandles="1" noChangeArrowheads="1" noChangeShapeType="1" noTextEdit="1"/>
              </p:cNvSpPr>
              <p:nvPr/>
            </p:nvSpPr>
            <p:spPr>
              <a:xfrm>
                <a:off x="5291667" y="3606801"/>
                <a:ext cx="6724918" cy="3009670"/>
              </a:xfrm>
              <a:prstGeom prst="rect">
                <a:avLst/>
              </a:prstGeom>
              <a:blipFill>
                <a:blip r:embed="rId4"/>
                <a:stretch>
                  <a:fillRect r="-9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7B0E9ACC-29D2-5BB5-5C55-51C99E5CBC50}"/>
              </a:ext>
            </a:extLst>
          </p:cNvPr>
          <p:cNvPicPr>
            <a:picLocks noChangeAspect="1"/>
          </p:cNvPicPr>
          <p:nvPr/>
        </p:nvPicPr>
        <p:blipFill>
          <a:blip r:embed="rId5"/>
          <a:stretch>
            <a:fillRect/>
          </a:stretch>
        </p:blipFill>
        <p:spPr>
          <a:xfrm>
            <a:off x="5401466" y="153636"/>
            <a:ext cx="6330420" cy="3360031"/>
          </a:xfrm>
          <a:prstGeom prst="rect">
            <a:avLst/>
          </a:prstGeom>
        </p:spPr>
      </p:pic>
    </p:spTree>
    <p:extLst>
      <p:ext uri="{BB962C8B-B14F-4D97-AF65-F5344CB8AC3E}">
        <p14:creationId xmlns:p14="http://schemas.microsoft.com/office/powerpoint/2010/main" val="233584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44423-1586-8A9D-8056-57EB83F54CA9}"/>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0F93ABB0-F433-6EB8-5084-7A15C06C4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E0CB5D5D-17F4-F866-BF69-594CC11F376E}"/>
              </a:ext>
            </a:extLst>
          </p:cNvPr>
          <p:cNvSpPr txBox="1"/>
          <p:nvPr/>
        </p:nvSpPr>
        <p:spPr>
          <a:xfrm>
            <a:off x="67734" y="1405219"/>
            <a:ext cx="6096000" cy="2371162"/>
          </a:xfrm>
          <a:prstGeom prst="rect">
            <a:avLst/>
          </a:prstGeom>
          <a:noFill/>
        </p:spPr>
        <p:txBody>
          <a:bodyPr wrap="square">
            <a:spAutoFit/>
          </a:bodyPr>
          <a:lstStyle/>
          <a:p>
            <a:pPr>
              <a:lnSpc>
                <a:spcPct val="150000"/>
              </a:lnSpc>
              <a:spcBef>
                <a:spcPts val="1500"/>
              </a:spcBef>
              <a:buNone/>
            </a:pPr>
            <a:r>
              <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rPr>
              <a:t>三、仿真分析</a:t>
            </a:r>
          </a:p>
          <a:p>
            <a:pPr indent="304800">
              <a:lnSpc>
                <a:spcPct val="150000"/>
              </a:lnSpc>
              <a:spcBef>
                <a:spcPts val="9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根据反激电路工作原理，搭建仿真电路模型，对</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24 V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输入条件下的输出电压和关键开关波形进行观察。仿真电路主要包括直流输入源、功率 </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MOSFET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、耦合电感模型、整流二极管、输出滤波电容和负载。</a:t>
            </a:r>
          </a:p>
        </p:txBody>
      </p:sp>
      <p:pic>
        <p:nvPicPr>
          <p:cNvPr id="4" name="Picture" descr="仿真电路搭建">
            <a:extLst>
              <a:ext uri="{FF2B5EF4-FFF2-40B4-BE49-F238E27FC236}">
                <a16:creationId xmlns:a16="http://schemas.microsoft.com/office/drawing/2014/main" id="{CD030DB6-CA06-D599-34AE-39A3358D4D6B}"/>
              </a:ext>
            </a:extLst>
          </p:cNvPr>
          <p:cNvPicPr/>
          <p:nvPr/>
        </p:nvPicPr>
        <p:blipFill>
          <a:blip r:embed="rId3"/>
          <a:stretch>
            <a:fillRect/>
          </a:stretch>
        </p:blipFill>
        <p:spPr bwMode="auto">
          <a:xfrm>
            <a:off x="6500707" y="150707"/>
            <a:ext cx="5418666" cy="3691466"/>
          </a:xfrm>
          <a:prstGeom prst="rect">
            <a:avLst/>
          </a:prstGeom>
          <a:noFill/>
          <a:ln w="9525">
            <a:noFill/>
            <a:headEnd/>
            <a:tailEnd/>
          </a:ln>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5B64E2A-5891-32C2-E8ED-3EACE8AF3477}"/>
                  </a:ext>
                </a:extLst>
              </p:cNvPr>
              <p:cNvSpPr txBox="1"/>
              <p:nvPr/>
            </p:nvSpPr>
            <p:spPr>
              <a:xfrm>
                <a:off x="0" y="4265579"/>
                <a:ext cx="6108700" cy="663643"/>
              </a:xfrm>
              <a:prstGeom prst="rect">
                <a:avLst/>
              </a:prstGeom>
              <a:noFill/>
            </p:spPr>
            <p:txBody>
              <a:bodyPr wrap="square">
                <a:spAutoFit/>
              </a:bodyPr>
              <a:lstStyle/>
              <a:p>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𝑜</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𝑁</m:t>
                              </m:r>
                            </m:e>
                            <m:sub>
                              <m:r>
                                <a:rPr lang="zh-CN" altLang="en-US" i="0">
                                  <a:latin typeface="Cambria Math" panose="02040503050406030204" pitchFamily="18" charset="0"/>
                                </a:rPr>
                                <m:t>2</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𝑁</m:t>
                              </m:r>
                            </m:e>
                            <m:sub>
                              <m:r>
                                <a:rPr lang="zh-CN" altLang="en-US" i="0">
                                  <a:latin typeface="Cambria Math" panose="02040503050406030204" pitchFamily="18" charset="0"/>
                                </a:rPr>
                                <m:t>1</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𝐷</m:t>
                          </m:r>
                        </m:num>
                        <m:den>
                          <m:r>
                            <a:rPr lang="zh-CN" altLang="en-US" i="0">
                              <a:latin typeface="Cambria Math" panose="02040503050406030204" pitchFamily="18" charset="0"/>
                            </a:rPr>
                            <m:t>1−</m:t>
                          </m:r>
                          <m:r>
                            <a:rPr lang="zh-CN" altLang="en-US" i="1">
                              <a:latin typeface="Cambria Math" panose="02040503050406030204" pitchFamily="18" charset="0"/>
                            </a:rPr>
                            <m:t>𝐷</m:t>
                          </m:r>
                        </m:den>
                      </m:f>
                      <m:r>
                        <a:rPr lang="zh-CN" altLang="en-US" i="0">
                          <a:latin typeface="Cambria Math" panose="02040503050406030204" pitchFamily="18" charset="0"/>
                        </a:rPr>
                        <m:t>=24×</m:t>
                      </m:r>
                      <m:f>
                        <m:fPr>
                          <m:ctrlPr>
                            <a:rPr lang="zh-CN" altLang="en-US" i="0">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3</m:t>
                          </m:r>
                        </m:den>
                      </m:f>
                      <m:r>
                        <a:rPr lang="zh-CN" altLang="en-US" i="0">
                          <a:latin typeface="Cambria Math" panose="02040503050406030204" pitchFamily="18" charset="0"/>
                        </a:rPr>
                        <m:t>×</m:t>
                      </m:r>
                      <m:f>
                        <m:fPr>
                          <m:ctrlPr>
                            <a:rPr lang="zh-CN" altLang="en-US" i="0">
                              <a:latin typeface="Cambria Math" panose="02040503050406030204" pitchFamily="18" charset="0"/>
                            </a:rPr>
                          </m:ctrlPr>
                        </m:fPr>
                        <m:num>
                          <m:r>
                            <a:rPr lang="zh-CN" altLang="en-US" i="0">
                              <a:latin typeface="Cambria Math" panose="02040503050406030204" pitchFamily="18" charset="0"/>
                            </a:rPr>
                            <m:t>0.5</m:t>
                          </m:r>
                        </m:num>
                        <m:den>
                          <m:r>
                            <a:rPr lang="zh-CN" altLang="en-US" i="0">
                              <a:latin typeface="Cambria Math" panose="02040503050406030204" pitchFamily="18" charset="0"/>
                            </a:rPr>
                            <m:t>1−0.5</m:t>
                          </m:r>
                        </m:den>
                      </m:f>
                      <m:r>
                        <a:rPr lang="zh-CN" altLang="en-US" i="0">
                          <a:latin typeface="Cambria Math" panose="02040503050406030204" pitchFamily="18" charset="0"/>
                        </a:rPr>
                        <m:t>=8</m:t>
                      </m:r>
                      <m:r>
                        <a:rPr lang="zh-CN" altLang="en-US" i="1">
                          <a:latin typeface="Cambria Math" panose="02040503050406030204" pitchFamily="18" charset="0"/>
                        </a:rPr>
                        <m:t>𝑉</m:t>
                      </m:r>
                    </m:oMath>
                  </m:oMathPara>
                </a14:m>
                <a:endParaRPr lang="zh-CN" altLang="en-US" dirty="0"/>
              </a:p>
            </p:txBody>
          </p:sp>
        </mc:Choice>
        <mc:Fallback xmlns="">
          <p:sp>
            <p:nvSpPr>
              <p:cNvPr id="7" name="文本框 6">
                <a:extLst>
                  <a:ext uri="{FF2B5EF4-FFF2-40B4-BE49-F238E27FC236}">
                    <a16:creationId xmlns:a16="http://schemas.microsoft.com/office/drawing/2014/main" id="{65B64E2A-5891-32C2-E8ED-3EACE8AF3477}"/>
                  </a:ext>
                </a:extLst>
              </p:cNvPr>
              <p:cNvSpPr txBox="1">
                <a:spLocks noRot="1" noChangeAspect="1" noMove="1" noResize="1" noEditPoints="1" noAdjustHandles="1" noChangeArrowheads="1" noChangeShapeType="1" noTextEdit="1"/>
              </p:cNvSpPr>
              <p:nvPr/>
            </p:nvSpPr>
            <p:spPr>
              <a:xfrm>
                <a:off x="0" y="4265579"/>
                <a:ext cx="6108700" cy="663643"/>
              </a:xfrm>
              <a:prstGeom prst="rect">
                <a:avLst/>
              </a:prstGeom>
              <a:blipFill>
                <a:blip r:embed="rId4"/>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FF5B89A-8B66-8704-7A33-69BC031DC503}"/>
              </a:ext>
            </a:extLst>
          </p:cNvPr>
          <p:cNvSpPr txBox="1"/>
          <p:nvPr/>
        </p:nvSpPr>
        <p:spPr>
          <a:xfrm>
            <a:off x="150284" y="5376595"/>
            <a:ext cx="5945716" cy="1200329"/>
          </a:xfrm>
          <a:prstGeom prst="rect">
            <a:avLst/>
          </a:prstGeom>
          <a:noFill/>
        </p:spPr>
        <p:txBody>
          <a:bodyPr wrap="square">
            <a:spAutoFit/>
          </a:bodyPr>
          <a:lstStyle/>
          <a:p>
            <a:r>
              <a:rPr lang="zh-CN" altLang="en-US" dirty="0"/>
              <a:t>在仿真中，还在变压器处输入了漏感的参数，使得实际输出约为</a:t>
            </a:r>
            <a:r>
              <a:rPr lang="en-US" altLang="zh-CN" dirty="0"/>
              <a:t>5V</a:t>
            </a:r>
            <a:r>
              <a:rPr lang="zh-CN" altLang="en-US" dirty="0"/>
              <a:t>（下图）。</a:t>
            </a:r>
            <a:endParaRPr lang="en-US" altLang="zh-CN" dirty="0"/>
          </a:p>
          <a:p>
            <a:endParaRPr lang="en-US" altLang="zh-CN" dirty="0"/>
          </a:p>
          <a:p>
            <a:r>
              <a:rPr lang="zh-CN" altLang="en-US" dirty="0"/>
              <a:t>实际电路因为</a:t>
            </a:r>
            <a:r>
              <a:rPr lang="en-US" altLang="zh-CN" dirty="0"/>
              <a:t>5180</a:t>
            </a:r>
            <a:r>
              <a:rPr lang="zh-CN" altLang="en-US" dirty="0"/>
              <a:t>具有调节作用，会稳定在</a:t>
            </a:r>
            <a:r>
              <a:rPr lang="en-US" altLang="zh-CN" dirty="0"/>
              <a:t>5V</a:t>
            </a:r>
            <a:r>
              <a:rPr lang="zh-CN" altLang="en-US" dirty="0"/>
              <a:t>附近</a:t>
            </a:r>
          </a:p>
        </p:txBody>
      </p:sp>
      <p:pic>
        <p:nvPicPr>
          <p:cNvPr id="10" name="Picture" descr="仿真电压输出">
            <a:extLst>
              <a:ext uri="{FF2B5EF4-FFF2-40B4-BE49-F238E27FC236}">
                <a16:creationId xmlns:a16="http://schemas.microsoft.com/office/drawing/2014/main" id="{E11022D2-8E9D-C2D8-AFD8-27267A8A8B0B}"/>
              </a:ext>
            </a:extLst>
          </p:cNvPr>
          <p:cNvPicPr/>
          <p:nvPr/>
        </p:nvPicPr>
        <p:blipFill>
          <a:blip r:embed="rId5"/>
          <a:srcRect t="426" r="8289" b="29069"/>
          <a:stretch>
            <a:fillRect/>
          </a:stretch>
        </p:blipFill>
        <p:spPr bwMode="auto">
          <a:xfrm>
            <a:off x="7085753" y="3535680"/>
            <a:ext cx="4833620" cy="3251200"/>
          </a:xfrm>
          <a:prstGeom prst="rect">
            <a:avLst/>
          </a:prstGeom>
          <a:noFill/>
          <a:ln w="9525">
            <a:noFill/>
            <a:headEnd/>
            <a:tailEnd/>
          </a:ln>
        </p:spPr>
      </p:pic>
    </p:spTree>
    <p:extLst>
      <p:ext uri="{BB962C8B-B14F-4D97-AF65-F5344CB8AC3E}">
        <p14:creationId xmlns:p14="http://schemas.microsoft.com/office/powerpoint/2010/main" val="383320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08E9-C64A-7897-9442-2034B04D812B}"/>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D5ECA3F0-408F-3CF9-3ED1-CA30151F84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E522C5DB-2F7B-5C24-3225-6C60CB3BA8C2}"/>
              </a:ext>
            </a:extLst>
          </p:cNvPr>
          <p:cNvSpPr txBox="1"/>
          <p:nvPr/>
        </p:nvSpPr>
        <p:spPr>
          <a:xfrm>
            <a:off x="152400" y="1313078"/>
            <a:ext cx="6096000" cy="4969309"/>
          </a:xfrm>
          <a:prstGeom prst="rect">
            <a:avLst/>
          </a:prstGeom>
          <a:noFill/>
        </p:spPr>
        <p:txBody>
          <a:bodyPr wrap="square">
            <a:spAutoFit/>
          </a:bodyPr>
          <a:lstStyle/>
          <a:p>
            <a:pPr>
              <a:lnSpc>
                <a:spcPct val="150000"/>
              </a:lnSpc>
              <a:spcBef>
                <a:spcPts val="1500"/>
              </a:spcBef>
              <a:buNone/>
            </a:pPr>
            <a:r>
              <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rPr>
              <a:t>四、电路设计</a:t>
            </a:r>
          </a:p>
          <a:p>
            <a:pPr>
              <a:lnSpc>
                <a:spcPct val="150000"/>
              </a:lnSpc>
              <a:spcBef>
                <a:spcPts val="1000"/>
              </a:spcBef>
              <a:buNone/>
            </a:pPr>
            <a:r>
              <a:rPr lang="en-US" altLang="zh-CN" sz="2000" b="1" dirty="0">
                <a:effectLst/>
                <a:latin typeface="Times New Roman" panose="02020603050405020304" pitchFamily="18" charset="0"/>
                <a:ea typeface="黑体" panose="02010609060101010101" pitchFamily="49" charset="-122"/>
                <a:cs typeface="Times New Roman" panose="02020603050405020304" pitchFamily="18" charset="0"/>
              </a:rPr>
              <a:t>4.1 LM5180 </a:t>
            </a:r>
            <a:r>
              <a:rPr lang="zh-CN" altLang="zh-CN" sz="2000" b="1" dirty="0">
                <a:effectLst/>
                <a:latin typeface="Times New Roman" panose="02020603050405020304" pitchFamily="18" charset="0"/>
                <a:ea typeface="黑体" panose="02010609060101010101" pitchFamily="49" charset="-122"/>
                <a:cs typeface="Times New Roman" panose="02020603050405020304" pitchFamily="18" charset="0"/>
              </a:rPr>
              <a:t>芯片概述</a:t>
            </a:r>
          </a:p>
          <a:p>
            <a:pPr indent="304800">
              <a:lnSpc>
                <a:spcPct val="150000"/>
              </a:lnSpc>
              <a:spcBef>
                <a:spcPts val="900"/>
              </a:spcBef>
              <a:buNone/>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LM5180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是一款面向隔离型反激电源应用的集成功率</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MOSFET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控制器，内部集成</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100 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1.5 A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功率开关管，可简化小功率隔离电源设计。该芯片支持原边调节方式，使外围电路更加简洁。</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br>
              <a:rPr lang="en-US" altLang="zh-CN" dirty="0">
                <a:latin typeface="Times New Roman" panose="02020603050405020304" pitchFamily="18" charset="0"/>
                <a:ea typeface="宋体" panose="02010600030101010101" pitchFamily="2" charset="-122"/>
                <a:cs typeface="Times New Roman" panose="02020603050405020304" pitchFamily="18" charset="0"/>
              </a:rPr>
            </a:br>
            <a:r>
              <a:rPr lang="zh-CN" altLang="en-US" dirty="0">
                <a:latin typeface="Times New Roman" panose="02020603050405020304" pitchFamily="18" charset="0"/>
                <a:ea typeface="宋体" panose="02010600030101010101" pitchFamily="2" charset="-122"/>
                <a:cs typeface="Times New Roman" panose="02020603050405020304" pitchFamily="18" charset="0"/>
              </a:rPr>
              <a:t>在手册中给出了典型应用的拓扑，在典型应用的基础上，</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设计电路原理图</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Picture" descr="LM5180 的典型应用">
            <a:extLst>
              <a:ext uri="{FF2B5EF4-FFF2-40B4-BE49-F238E27FC236}">
                <a16:creationId xmlns:a16="http://schemas.microsoft.com/office/drawing/2014/main" id="{625F4F80-2CB6-7649-2286-2C73D8449CED}"/>
              </a:ext>
            </a:extLst>
          </p:cNvPr>
          <p:cNvPicPr/>
          <p:nvPr/>
        </p:nvPicPr>
        <p:blipFill>
          <a:blip r:embed="rId3"/>
          <a:srcRect t="1633"/>
          <a:stretch>
            <a:fillRect/>
          </a:stretch>
        </p:blipFill>
        <p:spPr bwMode="auto">
          <a:xfrm>
            <a:off x="6183630" y="1778000"/>
            <a:ext cx="5270500" cy="3729672"/>
          </a:xfrm>
          <a:prstGeom prst="rect">
            <a:avLst/>
          </a:prstGeom>
          <a:noFill/>
          <a:ln w="9525">
            <a:noFill/>
            <a:headEnd/>
            <a:tailEnd/>
          </a:ln>
        </p:spPr>
      </p:pic>
    </p:spTree>
    <p:extLst>
      <p:ext uri="{BB962C8B-B14F-4D97-AF65-F5344CB8AC3E}">
        <p14:creationId xmlns:p14="http://schemas.microsoft.com/office/powerpoint/2010/main" val="4024862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B446D-EC9C-B087-52F9-FD519C3F4D1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937E12D4-C81D-762F-8747-4AC55D8C7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pic>
        <p:nvPicPr>
          <p:cNvPr id="2" name="Picture" descr="反激电源原理图">
            <a:extLst>
              <a:ext uri="{FF2B5EF4-FFF2-40B4-BE49-F238E27FC236}">
                <a16:creationId xmlns:a16="http://schemas.microsoft.com/office/drawing/2014/main" id="{DBA2BF15-1A14-0727-6A47-6FF82035B059}"/>
              </a:ext>
            </a:extLst>
          </p:cNvPr>
          <p:cNvPicPr/>
          <p:nvPr/>
        </p:nvPicPr>
        <p:blipFill>
          <a:blip r:embed="rId4"/>
          <a:stretch>
            <a:fillRect/>
          </a:stretch>
        </p:blipFill>
        <p:spPr bwMode="auto">
          <a:xfrm>
            <a:off x="5537200" y="171132"/>
            <a:ext cx="5795009" cy="3903028"/>
          </a:xfrm>
          <a:prstGeom prst="rect">
            <a:avLst/>
          </a:prstGeom>
          <a:noFill/>
          <a:ln w="9525">
            <a:noFill/>
            <a:headEnd/>
            <a:tailEnd/>
          </a:ln>
        </p:spPr>
      </p:pic>
      <p:sp>
        <p:nvSpPr>
          <p:cNvPr id="7" name="文本框 6">
            <a:extLst>
              <a:ext uri="{FF2B5EF4-FFF2-40B4-BE49-F238E27FC236}">
                <a16:creationId xmlns:a16="http://schemas.microsoft.com/office/drawing/2014/main" id="{80546303-53A9-EA84-714F-0FDCBDD93CAD}"/>
              </a:ext>
            </a:extLst>
          </p:cNvPr>
          <p:cNvSpPr txBox="1"/>
          <p:nvPr/>
        </p:nvSpPr>
        <p:spPr>
          <a:xfrm>
            <a:off x="132080" y="1438775"/>
            <a:ext cx="5405120" cy="5171929"/>
          </a:xfrm>
          <a:prstGeom prst="rect">
            <a:avLst/>
          </a:prstGeom>
          <a:noFill/>
        </p:spPr>
        <p:txBody>
          <a:bodyPr wrap="square">
            <a:spAutoFit/>
          </a:bodyPr>
          <a:lstStyle/>
          <a:p>
            <a:pPr indent="304800">
              <a:lnSpc>
                <a:spcPct val="150000"/>
              </a:lnSpc>
              <a:spcBef>
                <a:spcPts val="900"/>
              </a:spcBef>
              <a:buNone/>
            </a:pPr>
            <a:r>
              <a:rPr lang="zh-CN" altLang="en-US" sz="2400" b="1" dirty="0">
                <a:effectLst/>
                <a:latin typeface="Times New Roman" panose="02020603050405020304" pitchFamily="18" charset="0"/>
                <a:ea typeface="宋体" panose="02010600030101010101" pitchFamily="2" charset="-122"/>
                <a:cs typeface="Times New Roman" panose="02020603050405020304" pitchFamily="18" charset="0"/>
              </a:rPr>
              <a:t>设计注意事项</a:t>
            </a:r>
            <a:endPar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该典型电路由输入滤波、原边开关支路、变压器、副边整流滤波、反馈采样和钳位保护电路组成。设计时需要重点关注以下部分：</a:t>
            </a:r>
          </a:p>
          <a:p>
            <a:pPr marL="342900" lvl="0" indent="-342900">
              <a:lnSpc>
                <a:spcPct val="150000"/>
              </a:lnSpc>
              <a:spcBef>
                <a:spcPts val="300"/>
              </a:spcBef>
              <a:spcAft>
                <a:spcPts val="300"/>
              </a:spcAft>
              <a:buFont typeface="+mj-lt"/>
              <a:buAutoNum type="arabicPeriod"/>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输入滤波电容应尽量靠近</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VIN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GND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引脚，以减小输入回路寄生电感。</a:t>
            </a:r>
          </a:p>
          <a:p>
            <a:pPr marL="342900" lvl="0" indent="-342900">
              <a:lnSpc>
                <a:spcPct val="150000"/>
              </a:lnSpc>
              <a:spcBef>
                <a:spcPts val="300"/>
              </a:spcBef>
              <a:spcAft>
                <a:spcPts val="300"/>
              </a:spcAft>
              <a:buFont typeface="+mj-lt"/>
              <a:buAutoNum type="arabicPeriod"/>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SW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节点为高</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dv/dt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节点，布线面积应尽量小，避免引入较强电磁干扰。</a:t>
            </a:r>
          </a:p>
          <a:p>
            <a:pPr marL="342900" lvl="0" indent="-342900">
              <a:lnSpc>
                <a:spcPct val="150000"/>
              </a:lnSpc>
              <a:spcBef>
                <a:spcPts val="300"/>
              </a:spcBef>
              <a:spcAft>
                <a:spcPts val="300"/>
              </a:spcAft>
              <a:buFont typeface="+mj-lt"/>
              <a:buAutoNum type="arabicPeriod"/>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变压器漏感会导致</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MOSFET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漏源电压尖峰，需要通过</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TVS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RCD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钳位电路限制。</a:t>
            </a:r>
          </a:p>
        </p:txBody>
      </p:sp>
      <p:sp>
        <p:nvSpPr>
          <p:cNvPr id="9" name="文本框 8">
            <a:extLst>
              <a:ext uri="{FF2B5EF4-FFF2-40B4-BE49-F238E27FC236}">
                <a16:creationId xmlns:a16="http://schemas.microsoft.com/office/drawing/2014/main" id="{F3F43FB0-1105-9C22-148E-D13C451FCC8C}"/>
              </a:ext>
            </a:extLst>
          </p:cNvPr>
          <p:cNvSpPr txBox="1"/>
          <p:nvPr/>
        </p:nvSpPr>
        <p:spPr>
          <a:xfrm>
            <a:off x="5715000" y="4734214"/>
            <a:ext cx="6096000" cy="1778692"/>
          </a:xfrm>
          <a:prstGeom prst="rect">
            <a:avLst/>
          </a:prstGeom>
          <a:noFill/>
        </p:spPr>
        <p:txBody>
          <a:bodyPr wrap="square">
            <a:spAutoFit/>
          </a:bodyPr>
          <a:lstStyle/>
          <a:p>
            <a:pPr marL="342900" lvl="0" indent="-342900">
              <a:lnSpc>
                <a:spcPct val="150000"/>
              </a:lnSpc>
              <a:spcBef>
                <a:spcPts val="300"/>
              </a:spcBef>
              <a:spcAft>
                <a:spcPts val="300"/>
              </a:spcAft>
              <a:buFont typeface="+mj-lt"/>
              <a:buAutoNum type="arabicPeriod"/>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副边整流二极管应选择反向耐压和正向电流裕量足够的肖特基二极管，以降低损耗。</a:t>
            </a:r>
          </a:p>
          <a:p>
            <a:pPr marL="342900" lvl="0" indent="-342900">
              <a:lnSpc>
                <a:spcPct val="150000"/>
              </a:lnSpc>
              <a:spcBef>
                <a:spcPts val="300"/>
              </a:spcBef>
              <a:spcAft>
                <a:spcPts val="300"/>
              </a:spcAft>
              <a:buFont typeface="+mj-lt"/>
              <a:buAutoNum type="arabicPeriod"/>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输出电容需要兼顾容量、</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ESR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和纹波电流能力，以保证输出纹波满足要求。</a:t>
            </a:r>
          </a:p>
        </p:txBody>
      </p:sp>
    </p:spTree>
    <p:extLst>
      <p:ext uri="{BB962C8B-B14F-4D97-AF65-F5344CB8AC3E}">
        <p14:creationId xmlns:p14="http://schemas.microsoft.com/office/powerpoint/2010/main" val="2611254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92CD6-10D3-5210-7244-5F98800507B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F6BD7E25-85C1-FA8B-319B-FB87668369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pic>
        <p:nvPicPr>
          <p:cNvPr id="8" name="Picture" descr="PCB 图">
            <a:extLst>
              <a:ext uri="{FF2B5EF4-FFF2-40B4-BE49-F238E27FC236}">
                <a16:creationId xmlns:a16="http://schemas.microsoft.com/office/drawing/2014/main" id="{AF814C38-86BD-87A5-D953-17F98A3D0FF0}"/>
              </a:ext>
            </a:extLst>
          </p:cNvPr>
          <p:cNvPicPr/>
          <p:nvPr/>
        </p:nvPicPr>
        <p:blipFill>
          <a:blip r:embed="rId3"/>
          <a:stretch>
            <a:fillRect/>
          </a:stretch>
        </p:blipFill>
        <p:spPr bwMode="auto">
          <a:xfrm>
            <a:off x="332589" y="2781822"/>
            <a:ext cx="3962574" cy="1777596"/>
          </a:xfrm>
          <a:prstGeom prst="rect">
            <a:avLst/>
          </a:prstGeom>
          <a:noFill/>
          <a:ln w="9525">
            <a:noFill/>
            <a:headEnd/>
            <a:tailEnd/>
          </a:ln>
        </p:spPr>
      </p:pic>
      <p:pic>
        <p:nvPicPr>
          <p:cNvPr id="9" name="Picture" descr="PCB 3D 预览">
            <a:extLst>
              <a:ext uri="{FF2B5EF4-FFF2-40B4-BE49-F238E27FC236}">
                <a16:creationId xmlns:a16="http://schemas.microsoft.com/office/drawing/2014/main" id="{C2D3820B-239E-9D0F-7A82-598868B80C22}"/>
              </a:ext>
            </a:extLst>
          </p:cNvPr>
          <p:cNvPicPr/>
          <p:nvPr/>
        </p:nvPicPr>
        <p:blipFill>
          <a:blip r:embed="rId4"/>
          <a:stretch>
            <a:fillRect/>
          </a:stretch>
        </p:blipFill>
        <p:spPr bwMode="auto">
          <a:xfrm>
            <a:off x="298907" y="4626496"/>
            <a:ext cx="4216400" cy="2149475"/>
          </a:xfrm>
          <a:prstGeom prst="rect">
            <a:avLst/>
          </a:prstGeom>
          <a:noFill/>
          <a:ln w="9525">
            <a:noFill/>
            <a:headEnd/>
            <a:tailEnd/>
          </a:ln>
        </p:spPr>
      </p:pic>
      <p:sp>
        <p:nvSpPr>
          <p:cNvPr id="11" name="文本框 10">
            <a:extLst>
              <a:ext uri="{FF2B5EF4-FFF2-40B4-BE49-F238E27FC236}">
                <a16:creationId xmlns:a16="http://schemas.microsoft.com/office/drawing/2014/main" id="{B2DC35F1-26C1-A25A-2E3B-E79733B7525A}"/>
              </a:ext>
            </a:extLst>
          </p:cNvPr>
          <p:cNvSpPr txBox="1"/>
          <p:nvPr/>
        </p:nvSpPr>
        <p:spPr>
          <a:xfrm>
            <a:off x="240030" y="1313078"/>
            <a:ext cx="6096000" cy="1401666"/>
          </a:xfrm>
          <a:prstGeom prst="rect">
            <a:avLst/>
          </a:prstGeom>
          <a:noFill/>
        </p:spPr>
        <p:txBody>
          <a:bodyPr wrap="square">
            <a:spAutoFit/>
          </a:bodyPr>
          <a:lstStyle/>
          <a:p>
            <a:pPr indent="304800">
              <a:lnSpc>
                <a:spcPct val="150000"/>
              </a:lnSpc>
              <a:spcBef>
                <a:spcPts val="900"/>
              </a:spcBef>
              <a:buNone/>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根据原理图设计</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PCB </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如下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PCB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3D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预览如下图所示。通过</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3D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视图可以检查元件封装、安装方向和整体布局是否合理。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6877BCB5-4BE6-5911-EFAC-46C66620B7DD}"/>
              </a:ext>
            </a:extLst>
          </p:cNvPr>
          <p:cNvSpPr txBox="1"/>
          <p:nvPr/>
        </p:nvSpPr>
        <p:spPr>
          <a:xfrm>
            <a:off x="6150528" y="606206"/>
            <a:ext cx="5308833" cy="5265288"/>
          </a:xfrm>
          <a:prstGeom prst="rect">
            <a:avLst/>
          </a:prstGeom>
          <a:noFill/>
        </p:spPr>
        <p:txBody>
          <a:bodyPr wrap="square">
            <a:spAutoFit/>
          </a:bodyPr>
          <a:lstStyle/>
          <a:p>
            <a:pPr indent="304800">
              <a:lnSpc>
                <a:spcPct val="150000"/>
              </a:lnSpc>
              <a:spcBef>
                <a:spcPts val="900"/>
              </a:spcBef>
              <a:buNone/>
            </a:pPr>
            <a:r>
              <a:rPr lang="zh-CN" altLang="zh-CN" b="1" dirty="0">
                <a:solidFill>
                  <a:srgbClr val="FF0000"/>
                </a:solidFill>
              </a:rPr>
              <a:t>分区清晰、隔离可靠</a:t>
            </a:r>
            <a:br>
              <a:rPr lang="zh-CN" altLang="zh-CN" dirty="0"/>
            </a:br>
            <a:r>
              <a:rPr lang="zh-CN" altLang="zh-CN" dirty="0"/>
              <a:t>输入控制区与输出整流滤波区分布明确，中间通过变压器实现隔离，并预留了较大的安全间距，有利于提升耐压和可靠性。 </a:t>
            </a:r>
            <a:endParaRPr lang="en-US" altLang="zh-CN" dirty="0"/>
          </a:p>
          <a:p>
            <a:pPr indent="304800">
              <a:lnSpc>
                <a:spcPct val="150000"/>
              </a:lnSpc>
              <a:spcBef>
                <a:spcPts val="900"/>
              </a:spcBef>
              <a:buNone/>
            </a:pPr>
            <a:r>
              <a:rPr lang="zh-CN" altLang="zh-CN" b="1" dirty="0">
                <a:solidFill>
                  <a:srgbClr val="FF0000"/>
                </a:solidFill>
              </a:rPr>
              <a:t>关键控制回路紧凑</a:t>
            </a:r>
            <a:br>
              <a:rPr lang="zh-CN" altLang="zh-CN" dirty="0"/>
            </a:br>
            <a:r>
              <a:rPr lang="zh-CN" altLang="zh-CN" dirty="0"/>
              <a:t>芯片外围的反馈、限流、软启动、定时等器件靠近主控芯片布局，减少寄生参数和噪声干扰，提高电路稳定性。 </a:t>
            </a:r>
            <a:endParaRPr lang="en-US" altLang="zh-CN" dirty="0"/>
          </a:p>
          <a:p>
            <a:pPr indent="304800">
              <a:lnSpc>
                <a:spcPct val="150000"/>
              </a:lnSpc>
              <a:spcBef>
                <a:spcPts val="900"/>
              </a:spcBef>
              <a:buNone/>
            </a:pPr>
            <a:r>
              <a:rPr lang="zh-CN" altLang="zh-CN" b="1" dirty="0">
                <a:solidFill>
                  <a:srgbClr val="FF0000"/>
                </a:solidFill>
              </a:rPr>
              <a:t>采用泪滴连接设计</a:t>
            </a:r>
            <a:br>
              <a:rPr lang="zh-CN" altLang="zh-CN" dirty="0"/>
            </a:br>
            <a:r>
              <a:rPr lang="zh-CN" altLang="zh-CN" dirty="0"/>
              <a:t>焊盘与走线连接处使用</a:t>
            </a:r>
            <a:r>
              <a:rPr lang="zh-CN" altLang="zh-CN" dirty="0">
                <a:solidFill>
                  <a:srgbClr val="FF0000"/>
                </a:solidFill>
              </a:rPr>
              <a:t>泪滴加固</a:t>
            </a:r>
            <a:r>
              <a:rPr lang="zh-CN" altLang="zh-CN" dirty="0"/>
              <a:t>，可增强连接可靠性，降低蚀刻偏差、机械应力或钻孔偏移导致断线的风险。</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68007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F6D5-6F01-16C0-3AFC-A03E13B195C1}"/>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75096DC-6CF4-58F1-32E2-B2ADC1007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E9B11A3A-C222-2AA5-292A-FA06E5187113}"/>
              </a:ext>
            </a:extLst>
          </p:cNvPr>
          <p:cNvSpPr txBox="1"/>
          <p:nvPr/>
        </p:nvSpPr>
        <p:spPr>
          <a:xfrm>
            <a:off x="200287" y="1509382"/>
            <a:ext cx="6096698" cy="2371162"/>
          </a:xfrm>
          <a:prstGeom prst="rect">
            <a:avLst/>
          </a:prstGeom>
          <a:noFill/>
        </p:spPr>
        <p:txBody>
          <a:bodyPr wrap="square">
            <a:spAutoFit/>
          </a:bodyPr>
          <a:lstStyle/>
          <a:p>
            <a:pPr>
              <a:lnSpc>
                <a:spcPct val="150000"/>
              </a:lnSpc>
              <a:spcBef>
                <a:spcPts val="1500"/>
              </a:spcBef>
              <a:buNone/>
            </a:pPr>
            <a:r>
              <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rPr>
              <a:t>五、实验测试</a:t>
            </a:r>
          </a:p>
          <a:p>
            <a:pPr indent="304800">
              <a:lnSpc>
                <a:spcPct val="150000"/>
              </a:lnSpc>
              <a:spcBef>
                <a:spcPts val="9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本次测试使用的主要仪器包括直流稳压电源、数字万用表、示波器和直流电子负载。测试时输入电压设定为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24 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，通过改变电子负载电流记录输出电压、输入电流和转换效率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表格如下</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6" name="Picture" descr="测试过程图">
            <a:extLst>
              <a:ext uri="{FF2B5EF4-FFF2-40B4-BE49-F238E27FC236}">
                <a16:creationId xmlns:a16="http://schemas.microsoft.com/office/drawing/2014/main" id="{0E7C7B9F-ACD5-7882-264C-89EA02371C1F}"/>
              </a:ext>
            </a:extLst>
          </p:cNvPr>
          <p:cNvPicPr/>
          <p:nvPr/>
        </p:nvPicPr>
        <p:blipFill>
          <a:blip r:embed="rId3"/>
          <a:srcRect t="74152"/>
          <a:stretch>
            <a:fillRect/>
          </a:stretch>
        </p:blipFill>
        <p:spPr bwMode="auto">
          <a:xfrm>
            <a:off x="6544811" y="1681993"/>
            <a:ext cx="4515307" cy="1501629"/>
          </a:xfrm>
          <a:prstGeom prst="rect">
            <a:avLst/>
          </a:prstGeom>
          <a:noFill/>
          <a:ln w="9525">
            <a:noFill/>
            <a:headEnd/>
            <a:tailEnd/>
          </a:ln>
        </p:spPr>
      </p:pic>
      <p:graphicFrame>
        <p:nvGraphicFramePr>
          <p:cNvPr id="2" name="表格 1">
            <a:extLst>
              <a:ext uri="{FF2B5EF4-FFF2-40B4-BE49-F238E27FC236}">
                <a16:creationId xmlns:a16="http://schemas.microsoft.com/office/drawing/2014/main" id="{2D0D4445-F761-71C0-9336-59A83D3292BF}"/>
              </a:ext>
            </a:extLst>
          </p:cNvPr>
          <p:cNvGraphicFramePr>
            <a:graphicFrameLocks noGrp="1"/>
          </p:cNvGraphicFramePr>
          <p:nvPr>
            <p:extLst>
              <p:ext uri="{D42A27DB-BD31-4B8C-83A1-F6EECF244321}">
                <p14:modId xmlns:p14="http://schemas.microsoft.com/office/powerpoint/2010/main" val="2618869473"/>
              </p:ext>
            </p:extLst>
          </p:nvPr>
        </p:nvGraphicFramePr>
        <p:xfrm>
          <a:off x="1946515" y="3568943"/>
          <a:ext cx="8034610" cy="3050797"/>
        </p:xfrm>
        <a:graphic>
          <a:graphicData uri="http://schemas.openxmlformats.org/drawingml/2006/table">
            <a:tbl>
              <a:tblPr firstRow="1" bandRow="1" bandCol="1">
                <a:tableStyleId>{5C22544A-7EE6-4342-B048-85BDC9FD1C3A}</a:tableStyleId>
              </a:tblPr>
              <a:tblGrid>
                <a:gridCol w="1253786">
                  <a:extLst>
                    <a:ext uri="{9D8B030D-6E8A-4147-A177-3AD203B41FA5}">
                      <a16:colId xmlns:a16="http://schemas.microsoft.com/office/drawing/2014/main" val="3945461239"/>
                    </a:ext>
                  </a:extLst>
                </a:gridCol>
                <a:gridCol w="1253786">
                  <a:extLst>
                    <a:ext uri="{9D8B030D-6E8A-4147-A177-3AD203B41FA5}">
                      <a16:colId xmlns:a16="http://schemas.microsoft.com/office/drawing/2014/main" val="1823772366"/>
                    </a:ext>
                  </a:extLst>
                </a:gridCol>
                <a:gridCol w="1253786">
                  <a:extLst>
                    <a:ext uri="{9D8B030D-6E8A-4147-A177-3AD203B41FA5}">
                      <a16:colId xmlns:a16="http://schemas.microsoft.com/office/drawing/2014/main" val="3515022812"/>
                    </a:ext>
                  </a:extLst>
                </a:gridCol>
                <a:gridCol w="1253786">
                  <a:extLst>
                    <a:ext uri="{9D8B030D-6E8A-4147-A177-3AD203B41FA5}">
                      <a16:colId xmlns:a16="http://schemas.microsoft.com/office/drawing/2014/main" val="3115883858"/>
                    </a:ext>
                  </a:extLst>
                </a:gridCol>
                <a:gridCol w="3019466">
                  <a:extLst>
                    <a:ext uri="{9D8B030D-6E8A-4147-A177-3AD203B41FA5}">
                      <a16:colId xmlns:a16="http://schemas.microsoft.com/office/drawing/2014/main" val="3806859762"/>
                    </a:ext>
                  </a:extLst>
                </a:gridCol>
              </a:tblGrid>
              <a:tr h="1262527">
                <a:tc>
                  <a:txBody>
                    <a:bodyPr/>
                    <a:lstStyle/>
                    <a:p>
                      <a:pPr>
                        <a:lnSpc>
                          <a:spcPct val="150000"/>
                        </a:lnSpc>
                        <a:spcBef>
                          <a:spcPts val="300"/>
                        </a:spcBef>
                        <a:spcAft>
                          <a:spcPts val="300"/>
                        </a:spcAft>
                        <a:buNone/>
                      </a:pPr>
                      <a:r>
                        <a:rPr lang="zh-CN" sz="1200">
                          <a:effectLst/>
                        </a:rPr>
                        <a:t>输入电压</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zh-CN" sz="1200">
                          <a:effectLst/>
                        </a:rPr>
                        <a:t>输入电流</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zh-CN" sz="1200">
                          <a:effectLst/>
                        </a:rPr>
                        <a:t>输出电压</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zh-CN" sz="1200">
                          <a:effectLst/>
                        </a:rPr>
                        <a:t>输出电流</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zh-CN" sz="1200">
                          <a:effectLst/>
                        </a:rPr>
                        <a:t>效率</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12058899"/>
                  </a:ext>
                </a:extLst>
              </a:tr>
              <a:tr h="596090">
                <a:tc>
                  <a:txBody>
                    <a:bodyPr/>
                    <a:lstStyle/>
                    <a:p>
                      <a:pPr>
                        <a:lnSpc>
                          <a:spcPct val="150000"/>
                        </a:lnSpc>
                        <a:spcBef>
                          <a:spcPts val="300"/>
                        </a:spcBef>
                        <a:spcAft>
                          <a:spcPts val="300"/>
                        </a:spcAft>
                        <a:buNone/>
                      </a:pPr>
                      <a:r>
                        <a:rPr lang="en-US" sz="1200">
                          <a:effectLst/>
                        </a:rPr>
                        <a:t>24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0.26 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5.036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1.006 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81.24%</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7458175"/>
                  </a:ext>
                </a:extLst>
              </a:tr>
              <a:tr h="596090">
                <a:tc>
                  <a:txBody>
                    <a:bodyPr/>
                    <a:lstStyle/>
                    <a:p>
                      <a:pPr>
                        <a:lnSpc>
                          <a:spcPct val="150000"/>
                        </a:lnSpc>
                        <a:spcBef>
                          <a:spcPts val="300"/>
                        </a:spcBef>
                        <a:spcAft>
                          <a:spcPts val="300"/>
                        </a:spcAft>
                        <a:buNone/>
                      </a:pPr>
                      <a:r>
                        <a:rPr lang="en-US" sz="1200">
                          <a:effectLst/>
                        </a:rPr>
                        <a:t>24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0.21 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5.062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0.812 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81.57%</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56902144"/>
                  </a:ext>
                </a:extLst>
              </a:tr>
              <a:tr h="596090">
                <a:tc>
                  <a:txBody>
                    <a:bodyPr/>
                    <a:lstStyle/>
                    <a:p>
                      <a:pPr>
                        <a:lnSpc>
                          <a:spcPct val="150000"/>
                        </a:lnSpc>
                        <a:spcBef>
                          <a:spcPts val="300"/>
                        </a:spcBef>
                        <a:spcAft>
                          <a:spcPts val="300"/>
                        </a:spcAft>
                        <a:buNone/>
                      </a:pPr>
                      <a:r>
                        <a:rPr lang="en-US" sz="1200">
                          <a:effectLst/>
                        </a:rPr>
                        <a:t>24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0.12A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5.081 V</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a:effectLst/>
                        </a:rPr>
                        <a:t>0.465 A</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nSpc>
                          <a:spcPct val="150000"/>
                        </a:lnSpc>
                        <a:spcBef>
                          <a:spcPts val="300"/>
                        </a:spcBef>
                        <a:spcAft>
                          <a:spcPts val="300"/>
                        </a:spcAft>
                        <a:buNone/>
                      </a:pPr>
                      <a:r>
                        <a:rPr lang="en-US" sz="1200" dirty="0">
                          <a:effectLst/>
                        </a:rPr>
                        <a:t>82.01%</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5754392"/>
                  </a:ext>
                </a:extLst>
              </a:tr>
            </a:tbl>
          </a:graphicData>
        </a:graphic>
      </p:graphicFrame>
    </p:spTree>
    <p:extLst>
      <p:ext uri="{BB962C8B-B14F-4D97-AF65-F5344CB8AC3E}">
        <p14:creationId xmlns:p14="http://schemas.microsoft.com/office/powerpoint/2010/main" val="3648764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76585-1CCD-2371-6CCB-119582FF8EE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917FEE48-A704-E079-0DE0-F5AA3055A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E2507F33-CBC1-91C3-4DC1-354759128D22}"/>
              </a:ext>
            </a:extLst>
          </p:cNvPr>
          <p:cNvSpPr txBox="1"/>
          <p:nvPr/>
        </p:nvSpPr>
        <p:spPr>
          <a:xfrm>
            <a:off x="254816" y="1410324"/>
            <a:ext cx="6096698" cy="576248"/>
          </a:xfrm>
          <a:prstGeom prst="rect">
            <a:avLst/>
          </a:prstGeom>
          <a:noFill/>
        </p:spPr>
        <p:txBody>
          <a:bodyPr wrap="square">
            <a:spAutoFit/>
          </a:bodyPr>
          <a:lstStyle/>
          <a:p>
            <a:pPr>
              <a:lnSpc>
                <a:spcPct val="150000"/>
              </a:lnSpc>
              <a:spcBef>
                <a:spcPts val="1000"/>
              </a:spcBef>
              <a:buNone/>
            </a:pP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六，</a:t>
            </a:r>
            <a:r>
              <a:rPr lang="en-US" altLang="zh-CN" sz="2400" b="1" dirty="0" err="1">
                <a:effectLst/>
                <a:latin typeface="黑体" panose="02010609060101010101" pitchFamily="49" charset="-122"/>
                <a:ea typeface="黑体" panose="02010609060101010101" pitchFamily="49" charset="-122"/>
                <a:cs typeface="Times New Roman" panose="02020603050405020304" pitchFamily="18" charset="0"/>
              </a:rPr>
              <a:t>波形</a:t>
            </a: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展示</a:t>
            </a:r>
            <a:endPar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Picture" descr="输出电压上电波形">
            <a:extLst>
              <a:ext uri="{FF2B5EF4-FFF2-40B4-BE49-F238E27FC236}">
                <a16:creationId xmlns:a16="http://schemas.microsoft.com/office/drawing/2014/main" id="{60DF1DC2-59BE-7FCF-77CB-B7C1C69C4101}"/>
              </a:ext>
            </a:extLst>
          </p:cNvPr>
          <p:cNvPicPr/>
          <p:nvPr/>
        </p:nvPicPr>
        <p:blipFill>
          <a:blip r:embed="rId4"/>
          <a:srcRect l="13390" t="24149" r="20157" b="9711"/>
          <a:stretch>
            <a:fillRect/>
          </a:stretch>
        </p:blipFill>
        <p:spPr bwMode="auto">
          <a:xfrm>
            <a:off x="425158" y="2550098"/>
            <a:ext cx="5823747" cy="3668669"/>
          </a:xfrm>
          <a:prstGeom prst="rect">
            <a:avLst/>
          </a:prstGeom>
          <a:noFill/>
          <a:ln w="9525">
            <a:noFill/>
            <a:headEnd/>
            <a:tailEnd/>
          </a:ln>
        </p:spPr>
      </p:pic>
      <p:sp>
        <p:nvSpPr>
          <p:cNvPr id="9" name="文本框 8">
            <a:extLst>
              <a:ext uri="{FF2B5EF4-FFF2-40B4-BE49-F238E27FC236}">
                <a16:creationId xmlns:a16="http://schemas.microsoft.com/office/drawing/2014/main" id="{BF477248-8A9D-57F5-D97D-558ED7524B30}"/>
              </a:ext>
            </a:extLst>
          </p:cNvPr>
          <p:cNvSpPr txBox="1"/>
          <p:nvPr/>
        </p:nvSpPr>
        <p:spPr>
          <a:xfrm>
            <a:off x="-93056" y="6218767"/>
            <a:ext cx="6096698" cy="455253"/>
          </a:xfrm>
          <a:prstGeom prst="rect">
            <a:avLst/>
          </a:prstGeom>
          <a:noFill/>
        </p:spPr>
        <p:txBody>
          <a:bodyPr wrap="square">
            <a:spAutoFit/>
          </a:bodyPr>
          <a:lstStyle/>
          <a:p>
            <a:pPr algn="ctr">
              <a:lnSpc>
                <a:spcPct val="150000"/>
              </a:lnSpc>
              <a:spcAft>
                <a:spcPts val="600"/>
              </a:spcAft>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输出电压上电波形</a:t>
            </a:r>
          </a:p>
        </p:txBody>
      </p:sp>
      <p:sp>
        <p:nvSpPr>
          <p:cNvPr id="10" name="文本框 9">
            <a:extLst>
              <a:ext uri="{FF2B5EF4-FFF2-40B4-BE49-F238E27FC236}">
                <a16:creationId xmlns:a16="http://schemas.microsoft.com/office/drawing/2014/main" id="{303368DA-6614-37B9-05E8-C4C96613C2AD}"/>
              </a:ext>
            </a:extLst>
          </p:cNvPr>
          <p:cNvSpPr txBox="1"/>
          <p:nvPr/>
        </p:nvSpPr>
        <p:spPr>
          <a:xfrm>
            <a:off x="7315199" y="1040992"/>
            <a:ext cx="4021668" cy="1477328"/>
          </a:xfrm>
          <a:prstGeom prst="rect">
            <a:avLst/>
          </a:prstGeom>
          <a:noFill/>
        </p:spPr>
        <p:txBody>
          <a:bodyPr wrap="square" rtlCol="0">
            <a:spAutoFit/>
          </a:bodyPr>
          <a:lstStyle/>
          <a:p>
            <a:r>
              <a:rPr lang="zh-CN" altLang="en-US" dirty="0">
                <a:solidFill>
                  <a:schemeClr val="accent1"/>
                </a:solidFill>
              </a:rPr>
              <a:t>将示波器的探针接地改成接地弹簧，放在输出电容两端，带负载</a:t>
            </a:r>
            <a:endParaRPr lang="en-US" altLang="zh-CN" dirty="0">
              <a:solidFill>
                <a:schemeClr val="accent1"/>
              </a:solidFill>
            </a:endParaRPr>
          </a:p>
          <a:p>
            <a:endParaRPr lang="en-US" altLang="zh-CN" dirty="0">
              <a:solidFill>
                <a:schemeClr val="accent1"/>
              </a:solidFill>
            </a:endParaRPr>
          </a:p>
          <a:p>
            <a:r>
              <a:rPr lang="zh-CN" altLang="en-US" dirty="0">
                <a:solidFill>
                  <a:schemeClr val="accent1"/>
                </a:solidFill>
              </a:rPr>
              <a:t>示波器调整到</a:t>
            </a:r>
            <a:r>
              <a:rPr lang="en-US" altLang="zh-CN" dirty="0">
                <a:solidFill>
                  <a:schemeClr val="accent1"/>
                </a:solidFill>
              </a:rPr>
              <a:t>single</a:t>
            </a:r>
            <a:r>
              <a:rPr lang="zh-CN" altLang="en-US" dirty="0">
                <a:solidFill>
                  <a:schemeClr val="accent1"/>
                </a:solidFill>
              </a:rPr>
              <a:t>模式，触发电压改到</a:t>
            </a:r>
            <a:r>
              <a:rPr lang="en-US" altLang="zh-CN" dirty="0">
                <a:solidFill>
                  <a:schemeClr val="accent1"/>
                </a:solidFill>
              </a:rPr>
              <a:t>2V</a:t>
            </a:r>
            <a:r>
              <a:rPr lang="zh-CN" altLang="en-US" dirty="0">
                <a:solidFill>
                  <a:schemeClr val="accent1"/>
                </a:solidFill>
              </a:rPr>
              <a:t>左右，上电，即可得到波形</a:t>
            </a:r>
          </a:p>
        </p:txBody>
      </p:sp>
      <p:pic>
        <p:nvPicPr>
          <p:cNvPr id="13" name="图片 12" descr="电源纹波测试方法-CSDN博客">
            <a:extLst>
              <a:ext uri="{FF2B5EF4-FFF2-40B4-BE49-F238E27FC236}">
                <a16:creationId xmlns:a16="http://schemas.microsoft.com/office/drawing/2014/main" id="{97E25B53-6382-B172-81EC-4D4EF49B2147}"/>
              </a:ext>
            </a:extLst>
          </p:cNvPr>
          <p:cNvPicPr>
            <a:picLocks noChangeAspect="1"/>
          </p:cNvPicPr>
          <p:nvPr/>
        </p:nvPicPr>
        <p:blipFill>
          <a:blip r:embed="rId5"/>
          <a:srcRect l="25936"/>
          <a:stretch>
            <a:fillRect/>
          </a:stretch>
        </p:blipFill>
        <p:spPr>
          <a:xfrm>
            <a:off x="7323686" y="2939446"/>
            <a:ext cx="3881966" cy="2550330"/>
          </a:xfrm>
          <a:prstGeom prst="rect">
            <a:avLst/>
          </a:prstGeom>
        </p:spPr>
      </p:pic>
      <p:sp>
        <p:nvSpPr>
          <p:cNvPr id="15" name="文本框 14">
            <a:extLst>
              <a:ext uri="{FF2B5EF4-FFF2-40B4-BE49-F238E27FC236}">
                <a16:creationId xmlns:a16="http://schemas.microsoft.com/office/drawing/2014/main" id="{AC5D21AE-4230-8B7D-F7F7-0CD78F086B65}"/>
              </a:ext>
            </a:extLst>
          </p:cNvPr>
          <p:cNvSpPr txBox="1"/>
          <p:nvPr/>
        </p:nvSpPr>
        <p:spPr>
          <a:xfrm>
            <a:off x="6163889" y="5589381"/>
            <a:ext cx="6142838" cy="455253"/>
          </a:xfrm>
          <a:prstGeom prst="rect">
            <a:avLst/>
          </a:prstGeom>
          <a:noFill/>
        </p:spPr>
        <p:txBody>
          <a:bodyPr wrap="square">
            <a:spAutoFit/>
          </a:bodyPr>
          <a:lstStyle/>
          <a:p>
            <a:pPr algn="ctr">
              <a:lnSpc>
                <a:spcPct val="150000"/>
              </a:lnSpc>
              <a:spcAft>
                <a:spcPts val="600"/>
              </a:spcAft>
              <a:buNone/>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接地弹簧示意图</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3297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818C9-DC31-CDB1-E507-BB3BA2D0BC96}"/>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BE3B0477-2180-5010-97E4-9D5C78EFB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56FF47F3-23F4-2389-B6F1-5725C47DB2A3}"/>
              </a:ext>
            </a:extLst>
          </p:cNvPr>
          <p:cNvSpPr txBox="1"/>
          <p:nvPr/>
        </p:nvSpPr>
        <p:spPr>
          <a:xfrm>
            <a:off x="254816" y="1410324"/>
            <a:ext cx="6096698" cy="576248"/>
          </a:xfrm>
          <a:prstGeom prst="rect">
            <a:avLst/>
          </a:prstGeom>
          <a:noFill/>
        </p:spPr>
        <p:txBody>
          <a:bodyPr wrap="square">
            <a:spAutoFit/>
          </a:bodyPr>
          <a:lstStyle/>
          <a:p>
            <a:pPr>
              <a:lnSpc>
                <a:spcPct val="150000"/>
              </a:lnSpc>
              <a:spcBef>
                <a:spcPts val="1000"/>
              </a:spcBef>
              <a:buNone/>
            </a:pP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六，</a:t>
            </a:r>
            <a:r>
              <a:rPr lang="en-US" altLang="zh-CN" sz="2400" b="1" dirty="0" err="1">
                <a:effectLst/>
                <a:latin typeface="黑体" panose="02010609060101010101" pitchFamily="49" charset="-122"/>
                <a:ea typeface="黑体" panose="02010609060101010101" pitchFamily="49" charset="-122"/>
                <a:cs typeface="Times New Roman" panose="02020603050405020304" pitchFamily="18" charset="0"/>
              </a:rPr>
              <a:t>波形</a:t>
            </a: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展示</a:t>
            </a:r>
            <a:endPar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A260E371-BDC8-FFB3-7D8E-6D829F08AC00}"/>
              </a:ext>
            </a:extLst>
          </p:cNvPr>
          <p:cNvSpPr txBox="1"/>
          <p:nvPr/>
        </p:nvSpPr>
        <p:spPr>
          <a:xfrm>
            <a:off x="-244057" y="5716251"/>
            <a:ext cx="6096698" cy="455253"/>
          </a:xfrm>
          <a:prstGeom prst="rect">
            <a:avLst/>
          </a:prstGeom>
          <a:noFill/>
        </p:spPr>
        <p:txBody>
          <a:bodyPr wrap="square">
            <a:spAutoFit/>
          </a:bodyPr>
          <a:lstStyle/>
          <a:p>
            <a:pPr algn="ctr">
              <a:lnSpc>
                <a:spcPct val="150000"/>
              </a:lnSpc>
              <a:spcAft>
                <a:spcPts val="600"/>
              </a:spcAft>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输出电压波形</a:t>
            </a:r>
          </a:p>
        </p:txBody>
      </p:sp>
      <p:sp>
        <p:nvSpPr>
          <p:cNvPr id="10" name="文本框 9">
            <a:extLst>
              <a:ext uri="{FF2B5EF4-FFF2-40B4-BE49-F238E27FC236}">
                <a16:creationId xmlns:a16="http://schemas.microsoft.com/office/drawing/2014/main" id="{F83D509E-6C5D-3760-EE0A-53F450CAE23A}"/>
              </a:ext>
            </a:extLst>
          </p:cNvPr>
          <p:cNvSpPr txBox="1"/>
          <p:nvPr/>
        </p:nvSpPr>
        <p:spPr>
          <a:xfrm>
            <a:off x="6648372" y="3105834"/>
            <a:ext cx="4021668" cy="646331"/>
          </a:xfrm>
          <a:prstGeom prst="rect">
            <a:avLst/>
          </a:prstGeom>
          <a:noFill/>
        </p:spPr>
        <p:txBody>
          <a:bodyPr wrap="square" rtlCol="0">
            <a:spAutoFit/>
          </a:bodyPr>
          <a:lstStyle/>
          <a:p>
            <a:r>
              <a:rPr lang="zh-CN" altLang="en-US" dirty="0">
                <a:solidFill>
                  <a:schemeClr val="accent1"/>
                </a:solidFill>
              </a:rPr>
              <a:t>依旧使用接地弹簧，放在输出电容两端，带负载，上电之后即可得到波形</a:t>
            </a:r>
            <a:endParaRPr lang="en-US" altLang="zh-CN" dirty="0">
              <a:solidFill>
                <a:schemeClr val="accent1"/>
              </a:solidFill>
            </a:endParaRPr>
          </a:p>
        </p:txBody>
      </p:sp>
      <p:pic>
        <p:nvPicPr>
          <p:cNvPr id="2" name="Picture" descr="输出电压纹波波形">
            <a:extLst>
              <a:ext uri="{FF2B5EF4-FFF2-40B4-BE49-F238E27FC236}">
                <a16:creationId xmlns:a16="http://schemas.microsoft.com/office/drawing/2014/main" id="{03CFFC0B-4A4A-0C1D-3FFA-52DFCD29041F}"/>
              </a:ext>
            </a:extLst>
          </p:cNvPr>
          <p:cNvPicPr/>
          <p:nvPr/>
        </p:nvPicPr>
        <p:blipFill>
          <a:blip r:embed="rId4"/>
          <a:srcRect l="16494" t="12936" r="19918" b="17527"/>
          <a:stretch>
            <a:fillRect/>
          </a:stretch>
        </p:blipFill>
        <p:spPr bwMode="auto">
          <a:xfrm>
            <a:off x="486562" y="2083818"/>
            <a:ext cx="4840447" cy="3632433"/>
          </a:xfrm>
          <a:prstGeom prst="rect">
            <a:avLst/>
          </a:prstGeom>
          <a:noFill/>
          <a:ln w="9525">
            <a:noFill/>
            <a:headEnd/>
            <a:tailEnd/>
          </a:ln>
        </p:spPr>
      </p:pic>
    </p:spTree>
    <p:extLst>
      <p:ext uri="{BB962C8B-B14F-4D97-AF65-F5344CB8AC3E}">
        <p14:creationId xmlns:p14="http://schemas.microsoft.com/office/powerpoint/2010/main" val="1731822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06AFA-79E5-174D-1D55-D5AF719C5EBF}"/>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8B995F92-2691-6BBB-38D6-F6D507572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4FDF5EE2-0D65-CD21-2637-B049C8A2FFD3}"/>
              </a:ext>
            </a:extLst>
          </p:cNvPr>
          <p:cNvSpPr txBox="1"/>
          <p:nvPr/>
        </p:nvSpPr>
        <p:spPr>
          <a:xfrm>
            <a:off x="254816" y="1410324"/>
            <a:ext cx="6096698" cy="576248"/>
          </a:xfrm>
          <a:prstGeom prst="rect">
            <a:avLst/>
          </a:prstGeom>
          <a:noFill/>
        </p:spPr>
        <p:txBody>
          <a:bodyPr wrap="square">
            <a:spAutoFit/>
          </a:bodyPr>
          <a:lstStyle/>
          <a:p>
            <a:pPr>
              <a:lnSpc>
                <a:spcPct val="150000"/>
              </a:lnSpc>
              <a:spcBef>
                <a:spcPts val="1000"/>
              </a:spcBef>
              <a:buNone/>
            </a:pP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六，</a:t>
            </a:r>
            <a:r>
              <a:rPr lang="en-US" altLang="zh-CN" sz="2400" b="1" dirty="0" err="1">
                <a:effectLst/>
                <a:latin typeface="黑体" panose="02010609060101010101" pitchFamily="49" charset="-122"/>
                <a:ea typeface="黑体" panose="02010609060101010101" pitchFamily="49" charset="-122"/>
                <a:cs typeface="Times New Roman" panose="02020603050405020304" pitchFamily="18" charset="0"/>
              </a:rPr>
              <a:t>波形</a:t>
            </a:r>
            <a:r>
              <a:rPr lang="zh-CN" altLang="en-US" sz="2400" b="1" dirty="0">
                <a:effectLst/>
                <a:latin typeface="黑体" panose="02010609060101010101" pitchFamily="49" charset="-122"/>
                <a:ea typeface="黑体" panose="02010609060101010101" pitchFamily="49" charset="-122"/>
                <a:cs typeface="Times New Roman" panose="02020603050405020304" pitchFamily="18" charset="0"/>
              </a:rPr>
              <a:t>展示</a:t>
            </a:r>
            <a:endPar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63FA2196-3DA5-3825-477B-17A0598B1503}"/>
              </a:ext>
            </a:extLst>
          </p:cNvPr>
          <p:cNvSpPr txBox="1"/>
          <p:nvPr/>
        </p:nvSpPr>
        <p:spPr>
          <a:xfrm>
            <a:off x="1345657" y="5858864"/>
            <a:ext cx="6096698" cy="369332"/>
          </a:xfrm>
          <a:prstGeom prst="rect">
            <a:avLst/>
          </a:prstGeom>
          <a:noFill/>
        </p:spPr>
        <p:txBody>
          <a:bodyPr wrap="square">
            <a:spAutoFit/>
          </a:bodyPr>
          <a:lstStyle/>
          <a:p>
            <a:r>
              <a:rPr lang="en-US" altLang="zh-CN" dirty="0"/>
              <a:t>MOSFET </a:t>
            </a:r>
            <a:r>
              <a:rPr lang="zh-CN" altLang="zh-CN" dirty="0"/>
              <a:t>漏源级电压</a:t>
            </a:r>
            <a:r>
              <a:rPr lang="zh-CN" altLang="en-US" dirty="0"/>
              <a:t>波形</a:t>
            </a:r>
            <a:endParaRPr lang="zh-CN" altLang="zh-CN" dirty="0"/>
          </a:p>
        </p:txBody>
      </p:sp>
      <p:pic>
        <p:nvPicPr>
          <p:cNvPr id="4" name="Picture" descr="MOSFET 漏源级电压单个波形">
            <a:extLst>
              <a:ext uri="{FF2B5EF4-FFF2-40B4-BE49-F238E27FC236}">
                <a16:creationId xmlns:a16="http://schemas.microsoft.com/office/drawing/2014/main" id="{51AAD716-2F33-C3FF-06C2-9282AB543CB6}"/>
              </a:ext>
            </a:extLst>
          </p:cNvPr>
          <p:cNvPicPr/>
          <p:nvPr/>
        </p:nvPicPr>
        <p:blipFill>
          <a:blip r:embed="rId4"/>
          <a:srcRect l="7077" t="18309" r="23684" b="10561"/>
          <a:stretch>
            <a:fillRect/>
          </a:stretch>
        </p:blipFill>
        <p:spPr bwMode="auto">
          <a:xfrm>
            <a:off x="396983" y="2083819"/>
            <a:ext cx="5146646" cy="3775045"/>
          </a:xfrm>
          <a:prstGeom prst="rect">
            <a:avLst/>
          </a:prstGeom>
          <a:noFill/>
          <a:ln w="9525">
            <a:noFill/>
            <a:headEnd/>
            <a:tailEnd/>
          </a:ln>
        </p:spPr>
      </p:pic>
      <p:pic>
        <p:nvPicPr>
          <p:cNvPr id="6" name="Picture" descr="MOSFET 漏源级电压">
            <a:extLst>
              <a:ext uri="{FF2B5EF4-FFF2-40B4-BE49-F238E27FC236}">
                <a16:creationId xmlns:a16="http://schemas.microsoft.com/office/drawing/2014/main" id="{CE66E22D-4275-E5D8-87E6-41212711247A}"/>
              </a:ext>
            </a:extLst>
          </p:cNvPr>
          <p:cNvPicPr/>
          <p:nvPr/>
        </p:nvPicPr>
        <p:blipFill>
          <a:blip r:embed="rId5"/>
          <a:srcRect l="9921" t="13755" r="17577" b="17346"/>
          <a:stretch>
            <a:fillRect/>
          </a:stretch>
        </p:blipFill>
        <p:spPr bwMode="auto">
          <a:xfrm>
            <a:off x="5826155" y="134224"/>
            <a:ext cx="4131577" cy="2655115"/>
          </a:xfrm>
          <a:prstGeom prst="rect">
            <a:avLst/>
          </a:prstGeom>
          <a:noFill/>
          <a:ln w="9525">
            <a:noFill/>
            <a:headEnd/>
            <a:tailEnd/>
          </a:ln>
        </p:spPr>
      </p:pic>
      <p:sp>
        <p:nvSpPr>
          <p:cNvPr id="7" name="文本框 6">
            <a:extLst>
              <a:ext uri="{FF2B5EF4-FFF2-40B4-BE49-F238E27FC236}">
                <a16:creationId xmlns:a16="http://schemas.microsoft.com/office/drawing/2014/main" id="{80A44637-C59B-BD29-D14B-C60A495FB3CD}"/>
              </a:ext>
            </a:extLst>
          </p:cNvPr>
          <p:cNvSpPr txBox="1"/>
          <p:nvPr/>
        </p:nvSpPr>
        <p:spPr>
          <a:xfrm>
            <a:off x="6023295" y="3114311"/>
            <a:ext cx="5028941" cy="923330"/>
          </a:xfrm>
          <a:prstGeom prst="rect">
            <a:avLst/>
          </a:prstGeom>
          <a:noFill/>
        </p:spPr>
        <p:txBody>
          <a:bodyPr wrap="none" rtlCol="0">
            <a:spAutoFit/>
          </a:bodyPr>
          <a:lstStyle/>
          <a:p>
            <a:r>
              <a:rPr lang="zh-CN" altLang="en-US" dirty="0">
                <a:solidFill>
                  <a:schemeClr val="accent1"/>
                </a:solidFill>
              </a:rPr>
              <a:t>测</a:t>
            </a:r>
            <a:r>
              <a:rPr lang="en-US" altLang="zh-CN" dirty="0">
                <a:solidFill>
                  <a:schemeClr val="accent1"/>
                </a:solidFill>
              </a:rPr>
              <a:t>MOSFET</a:t>
            </a:r>
            <a:r>
              <a:rPr lang="zh-CN" altLang="zh-CN" dirty="0">
                <a:solidFill>
                  <a:schemeClr val="accent1"/>
                </a:solidFill>
              </a:rPr>
              <a:t>漏源级电压</a:t>
            </a:r>
            <a:r>
              <a:rPr lang="zh-CN" altLang="en-US" dirty="0">
                <a:solidFill>
                  <a:schemeClr val="accent1"/>
                </a:solidFill>
              </a:rPr>
              <a:t>波形，需要一端接地，</a:t>
            </a:r>
            <a:br>
              <a:rPr lang="en-US" altLang="zh-CN" dirty="0">
                <a:solidFill>
                  <a:schemeClr val="accent1"/>
                </a:solidFill>
              </a:rPr>
            </a:br>
            <a:r>
              <a:rPr lang="zh-CN" altLang="en-US" dirty="0">
                <a:solidFill>
                  <a:schemeClr val="accent1"/>
                </a:solidFill>
              </a:rPr>
              <a:t>一端接</a:t>
            </a:r>
            <a:r>
              <a:rPr lang="en-US" altLang="zh-CN" dirty="0">
                <a:solidFill>
                  <a:schemeClr val="accent1"/>
                </a:solidFill>
              </a:rPr>
              <a:t>LM5180</a:t>
            </a:r>
            <a:r>
              <a:rPr lang="zh-CN" altLang="en-US" dirty="0">
                <a:solidFill>
                  <a:schemeClr val="accent1"/>
                </a:solidFill>
              </a:rPr>
              <a:t>的</a:t>
            </a:r>
            <a:r>
              <a:rPr lang="en-US" altLang="zh-CN" dirty="0">
                <a:solidFill>
                  <a:schemeClr val="accent1"/>
                </a:solidFill>
              </a:rPr>
              <a:t>SW</a:t>
            </a:r>
            <a:r>
              <a:rPr lang="zh-CN" altLang="en-US" dirty="0">
                <a:solidFill>
                  <a:schemeClr val="accent1"/>
                </a:solidFill>
              </a:rPr>
              <a:t>引脚。但因为</a:t>
            </a:r>
            <a:r>
              <a:rPr lang="en-US" altLang="zh-CN" dirty="0" err="1">
                <a:solidFill>
                  <a:schemeClr val="accent1"/>
                </a:solidFill>
              </a:rPr>
              <a:t>sw</a:t>
            </a:r>
            <a:r>
              <a:rPr lang="zh-CN" altLang="en-US" dirty="0">
                <a:solidFill>
                  <a:schemeClr val="accent1"/>
                </a:solidFill>
              </a:rPr>
              <a:t>引脚太小，</a:t>
            </a:r>
            <a:endParaRPr lang="en-US" altLang="zh-CN" dirty="0">
              <a:solidFill>
                <a:schemeClr val="accent1"/>
              </a:solidFill>
            </a:endParaRPr>
          </a:p>
          <a:p>
            <a:r>
              <a:rPr lang="zh-CN" altLang="en-US" dirty="0">
                <a:solidFill>
                  <a:srgbClr val="FF0000"/>
                </a:solidFill>
              </a:rPr>
              <a:t>选择变压器</a:t>
            </a:r>
            <a:r>
              <a:rPr lang="en-US" altLang="zh-CN" dirty="0">
                <a:solidFill>
                  <a:srgbClr val="FF0000"/>
                </a:solidFill>
              </a:rPr>
              <a:t>3</a:t>
            </a:r>
            <a:r>
              <a:rPr lang="zh-CN" altLang="en-US" dirty="0">
                <a:solidFill>
                  <a:srgbClr val="FF0000"/>
                </a:solidFill>
              </a:rPr>
              <a:t>号引脚</a:t>
            </a:r>
            <a:r>
              <a:rPr lang="zh-CN" altLang="en-US" dirty="0">
                <a:solidFill>
                  <a:schemeClr val="accent1"/>
                </a:solidFill>
              </a:rPr>
              <a:t>。两个探头位置如图所示</a:t>
            </a:r>
          </a:p>
        </p:txBody>
      </p:sp>
      <p:pic>
        <p:nvPicPr>
          <p:cNvPr id="11" name="图片 10">
            <a:extLst>
              <a:ext uri="{FF2B5EF4-FFF2-40B4-BE49-F238E27FC236}">
                <a16:creationId xmlns:a16="http://schemas.microsoft.com/office/drawing/2014/main" id="{068BD30D-FA5F-30FC-5EBC-F7231C758271}"/>
              </a:ext>
            </a:extLst>
          </p:cNvPr>
          <p:cNvPicPr>
            <a:picLocks noChangeAspect="1"/>
          </p:cNvPicPr>
          <p:nvPr/>
        </p:nvPicPr>
        <p:blipFill>
          <a:blip r:embed="rId6"/>
          <a:stretch>
            <a:fillRect/>
          </a:stretch>
        </p:blipFill>
        <p:spPr>
          <a:xfrm>
            <a:off x="6040073" y="4202039"/>
            <a:ext cx="4241759" cy="2152876"/>
          </a:xfrm>
          <a:prstGeom prst="rect">
            <a:avLst/>
          </a:prstGeom>
        </p:spPr>
      </p:pic>
    </p:spTree>
    <p:extLst>
      <p:ext uri="{BB962C8B-B14F-4D97-AF65-F5344CB8AC3E}">
        <p14:creationId xmlns:p14="http://schemas.microsoft.com/office/powerpoint/2010/main" val="2102730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A2EBD-1403-1F64-F2FF-D37E6218680A}"/>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47C299D-ABF9-3747-C2E0-4E22A63F0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5307" cy="1313078"/>
          </a:xfrm>
          <a:prstGeom prst="rect">
            <a:avLst/>
          </a:prstGeom>
        </p:spPr>
      </p:pic>
      <p:sp>
        <p:nvSpPr>
          <p:cNvPr id="3" name="文本框 2">
            <a:extLst>
              <a:ext uri="{FF2B5EF4-FFF2-40B4-BE49-F238E27FC236}">
                <a16:creationId xmlns:a16="http://schemas.microsoft.com/office/drawing/2014/main" id="{FA0067F7-2B75-1AE6-B081-94568461C2CE}"/>
              </a:ext>
            </a:extLst>
          </p:cNvPr>
          <p:cNvSpPr txBox="1"/>
          <p:nvPr/>
        </p:nvSpPr>
        <p:spPr>
          <a:xfrm>
            <a:off x="334511" y="1425249"/>
            <a:ext cx="10839626" cy="2601994"/>
          </a:xfrm>
          <a:prstGeom prst="rect">
            <a:avLst/>
          </a:prstGeom>
          <a:noFill/>
        </p:spPr>
        <p:txBody>
          <a:bodyPr wrap="square">
            <a:spAutoFit/>
          </a:bodyPr>
          <a:lstStyle/>
          <a:p>
            <a:pPr>
              <a:lnSpc>
                <a:spcPct val="150000"/>
              </a:lnSpc>
              <a:spcBef>
                <a:spcPts val="1500"/>
              </a:spcBef>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七</a:t>
            </a:r>
            <a:r>
              <a:rPr lang="zh-CN" altLang="zh-CN" sz="2400" b="1" dirty="0">
                <a:effectLst/>
                <a:latin typeface="Times New Roman" panose="02020603050405020304" pitchFamily="18" charset="0"/>
                <a:ea typeface="黑体" panose="02010609060101010101" pitchFamily="49" charset="-122"/>
                <a:cs typeface="Times New Roman" panose="02020603050405020304" pitchFamily="18" charset="0"/>
              </a:rPr>
              <a:t>、心得体会</a:t>
            </a:r>
          </a:p>
          <a:p>
            <a:pPr indent="304800">
              <a:lnSpc>
                <a:spcPct val="150000"/>
              </a:lnSpc>
              <a:spcBef>
                <a:spcPts val="9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通过本次电力电子课程设计，我对反激变换器的工作原理、能量传递方式和实际工程设计过程有了更加直观的认识。</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结合</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课堂上的公式推导，实物电路的仿真、焊接和测试能够</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给我更加</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深刻的相关理解。</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波折的设计与调试过程也让我积累的相当多的经验。</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spcBef>
                <a:spcPts val="9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最后，感谢郑老师</a:t>
            </a:r>
            <a:r>
              <a:rPr lang="zh-CN" altLang="en-US">
                <a:latin typeface="Times New Roman" panose="02020603050405020304" pitchFamily="18" charset="0"/>
                <a:ea typeface="宋体" panose="02010600030101010101" pitchFamily="2" charset="-122"/>
                <a:cs typeface="Times New Roman" panose="02020603050405020304" pitchFamily="18" charset="0"/>
              </a:rPr>
              <a:t>的指导。</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20034E69-A5F9-C4BB-B943-5300C3D6BC78}"/>
              </a:ext>
            </a:extLst>
          </p:cNvPr>
          <p:cNvSpPr txBox="1"/>
          <p:nvPr/>
        </p:nvSpPr>
        <p:spPr>
          <a:xfrm>
            <a:off x="4202885" y="5104701"/>
            <a:ext cx="4400026" cy="769441"/>
          </a:xfrm>
          <a:prstGeom prst="rect">
            <a:avLst/>
          </a:prstGeom>
          <a:noFill/>
        </p:spPr>
        <p:txBody>
          <a:bodyPr wrap="square" rtlCol="0">
            <a:spAutoFit/>
          </a:bodyPr>
          <a:lstStyle/>
          <a:p>
            <a:r>
              <a:rPr lang="en-US" altLang="zh-CN" sz="4400" dirty="0"/>
              <a:t>Thanks </a:t>
            </a:r>
            <a:r>
              <a:rPr lang="zh-CN" altLang="en-US" sz="4400" dirty="0"/>
              <a:t>！</a:t>
            </a:r>
          </a:p>
        </p:txBody>
      </p:sp>
    </p:spTree>
    <p:extLst>
      <p:ext uri="{BB962C8B-B14F-4D97-AF65-F5344CB8AC3E}">
        <p14:creationId xmlns:p14="http://schemas.microsoft.com/office/powerpoint/2010/main" val="1072240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1062</Words>
  <Application>Microsoft Office PowerPoint</Application>
  <PresentationFormat>宽屏</PresentationFormat>
  <Paragraphs>90</Paragraphs>
  <Slides>12</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等线</vt:lpstr>
      <vt:lpstr>等线 Light</vt:lpstr>
      <vt:lpstr>黑体</vt:lpstr>
      <vt:lpstr>Arial</vt:lpstr>
      <vt:lpstr>Cambria Math</vt:lpstr>
      <vt:lpstr>Times New Roman</vt:lpstr>
      <vt:lpstr>Office 主题​​</vt:lpstr>
      <vt:lpstr>电力电子课程设计报告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泽海 李</dc:creator>
  <cp:lastModifiedBy>泽海 李</cp:lastModifiedBy>
  <cp:revision>5</cp:revision>
  <dcterms:created xsi:type="dcterms:W3CDTF">2026-06-30T10:10:16Z</dcterms:created>
  <dcterms:modified xsi:type="dcterms:W3CDTF">2026-07-01T07:45:10Z</dcterms:modified>
</cp:coreProperties>
</file>